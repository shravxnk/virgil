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Points</c:v>
                </c:pt>
              </c:strCache>
            </c:strRef>
          </c:tx>
          <c:spPr>
            <a:solidFill>
              <a:srgbClr val="3B82F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F1F5F9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Amount</c:v>
                  </c:pt>
                  <c:pt idx="1">
                    <c:v>Time</c:v>
                  </c:pt>
                  <c:pt idx="2">
                    <c:v>Device</c:v>
                  </c:pt>
                  <c:pt idx="3">
                    <c:v>Beneficiary</c:v>
                  </c:pt>
                  <c:pt idx="4">
                    <c:v>Graph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25</c:v>
                </c:pt>
                <c:pt idx="1">
                  <c:v>0</c:v>
                </c:pt>
                <c:pt idx="2">
                  <c:v>0</c:v>
                </c:pt>
                <c:pt idx="3">
                  <c:v>17.25</c:v>
                </c:pt>
                <c:pt idx="4">
                  <c:v>25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F1F5F9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94A3B8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4A3B8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141B2E"/>
        </a:solidFill>
        <a:ln>
          <a:noFill/>
        </a:ln>
        <a:effectLst/>
      </c:spPr>
    </c:plotArea>
    <c:plotVisOnly val="1"/>
    <c:dispBlanksAs val="span"/>
  </c:chart>
  <c:spPr>
    <a:solidFill>
      <a:srgbClr val="141B2E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4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1.png"/><Relationship Id="rId3" Type="http://schemas.openxmlformats.org/officeDocument/2006/relationships/image" Target="../media/image-10-1.png"/><Relationship Id="rId4" Type="http://schemas.openxmlformats.org/officeDocument/2006/relationships/image" Target="../media/image-10-1.png"/><Relationship Id="rId5" Type="http://schemas.openxmlformats.org/officeDocument/2006/relationships/image" Target="../media/image-10-1.png"/><Relationship Id="rId6" Type="http://schemas.openxmlformats.org/officeDocument/2006/relationships/image" Target="../media/image-10-1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image" Target="../media/image-12-3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592928" y="1417320"/>
            <a:ext cx="1005840" cy="1005840"/>
          </a:xfrm>
          <a:prstGeom prst="ellipse">
            <a:avLst/>
          </a:prstGeom>
          <a:solidFill>
            <a:srgbClr val="1D3B66"/>
          </a:solidFill>
          <a:ln/>
        </p:spPr>
      </p:sp>
      <p:pic>
        <p:nvPicPr>
          <p:cNvPr id="3" name="Image 0" descr="C:\Users\Dell\AppData\Local\Temp\claude\C--Users-Dell-Documents-chakravyuh\a4ec3c1a-964e-4574-a792-caf74a383059\scratchpad\virgil_ppt\icons\shiel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54446" y="1678838"/>
            <a:ext cx="482803" cy="482803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0" y="2697480"/>
            <a:ext cx="12191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spc="300" kern="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VIRGIL</a:t>
            </a:r>
            <a:endParaRPr lang="en-US" sz="5400" dirty="0"/>
          </a:p>
        </p:txBody>
      </p:sp>
      <p:sp>
        <p:nvSpPr>
          <p:cNvPr id="5" name="Text 2"/>
          <p:cNvSpPr txBox="1"/>
          <p:nvPr/>
        </p:nvSpPr>
        <p:spPr>
          <a:xfrm>
            <a:off x="0" y="3520440"/>
            <a:ext cx="121916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Banking Fraud Intelligence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1371600" y="4023360"/>
            <a:ext cx="9448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Pre-transaction risk scoring  ·  device &amp; network intelligence  ·  analyst &amp; executive consoles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5547208" y="4892040"/>
            <a:ext cx="1097280" cy="0"/>
          </a:xfrm>
          <a:prstGeom prst="line">
            <a:avLst/>
          </a:prstGeom>
          <a:noFill/>
          <a:ln w="19050">
            <a:solidFill>
              <a:srgbClr val="223049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0" y="5120640"/>
            <a:ext cx="121916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Project  ·  Financial Fraud Detection System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0" y="5943600"/>
            <a:ext cx="12191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Shravan Kadam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4980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Fraud Detection System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41732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 03 — Elite Level: Real-Time Adaptive Intelligence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965960"/>
            <a:ext cx="10881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a system that can detect and prevent financial fraud before transactions are completed. The system must identify coordinated, stealthy, and evolving fraud patterns across users and channels — analyzing behavior, transaction context, and device intelligence to catch anomalies with real-time decision-making and minimal latency.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40080" y="3246120"/>
            <a:ext cx="2606040" cy="2880360"/>
          </a:xfrm>
          <a:prstGeom prst="roundRect">
            <a:avLst>
              <a:gd name="adj" fmla="val 2807"/>
            </a:avLst>
          </a:prstGeom>
          <a:solidFill>
            <a:srgbClr val="141B2E"/>
          </a:solidFill>
          <a:ln w="12700">
            <a:solidFill>
              <a:srgbClr val="22304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96112" y="3520440"/>
            <a:ext cx="548640" cy="548640"/>
          </a:xfrm>
          <a:prstGeom prst="ellipse">
            <a:avLst/>
          </a:prstGeom>
          <a:solidFill>
            <a:srgbClr val="1D3B66"/>
          </a:solidFill>
          <a:ln/>
        </p:spPr>
      </p:sp>
      <p:pic>
        <p:nvPicPr>
          <p:cNvPr id="8" name="Image 0" descr="C:\Users\Dell\AppData\Local\Temp\claude\C--Users-Dell-Documents-chakravyuh\a4ec3c1a-964e-4574-a792-caf74a383059\scratchpad\virgil_ppt\icons\targ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8758" y="3663086"/>
            <a:ext cx="263347" cy="263347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896112" y="4251960"/>
            <a:ext cx="20939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Pre-transaction decisioning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896112" y="4983480"/>
            <a:ext cx="209397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Approve, verify, review, or block — before money moves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3447288" y="3246120"/>
            <a:ext cx="2606040" cy="2880360"/>
          </a:xfrm>
          <a:prstGeom prst="roundRect">
            <a:avLst>
              <a:gd name="adj" fmla="val 2807"/>
            </a:avLst>
          </a:prstGeom>
          <a:solidFill>
            <a:srgbClr val="141B2E"/>
          </a:solidFill>
          <a:ln w="12700">
            <a:solidFill>
              <a:srgbClr val="223049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3703320" y="3520440"/>
            <a:ext cx="548640" cy="548640"/>
          </a:xfrm>
          <a:prstGeom prst="ellipse">
            <a:avLst/>
          </a:prstGeom>
          <a:solidFill>
            <a:srgbClr val="1D3B66"/>
          </a:solidFill>
          <a:ln/>
        </p:spPr>
      </p:sp>
      <p:pic>
        <p:nvPicPr>
          <p:cNvPr id="13" name="Image 1" descr="C:\Users\Dell\AppData\Local\Temp\claude\C--Users-Dell-Documents-chakravyuh\a4ec3c1a-964e-4574-a792-caf74a383059\scratchpad\virgil_ppt\icons\brai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5966" y="3663086"/>
            <a:ext cx="263347" cy="263347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3703320" y="4251960"/>
            <a:ext cx="20939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Behavioral risk scoring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3703320" y="4983480"/>
            <a:ext cx="209397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every transaction to that account’s own baseline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54496" y="3246120"/>
            <a:ext cx="2606040" cy="2880360"/>
          </a:xfrm>
          <a:prstGeom prst="roundRect">
            <a:avLst>
              <a:gd name="adj" fmla="val 2807"/>
            </a:avLst>
          </a:prstGeom>
          <a:solidFill>
            <a:srgbClr val="141B2E"/>
          </a:solidFill>
          <a:ln w="12700">
            <a:solidFill>
              <a:srgbClr val="223049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6510528" y="3520440"/>
            <a:ext cx="548640" cy="548640"/>
          </a:xfrm>
          <a:prstGeom prst="ellipse">
            <a:avLst/>
          </a:prstGeom>
          <a:solidFill>
            <a:srgbClr val="1D3B66"/>
          </a:solidFill>
          <a:ln/>
        </p:spPr>
      </p:sp>
      <p:pic>
        <p:nvPicPr>
          <p:cNvPr id="18" name="Image 2" descr="C:\Users\Dell\AppData\Local\Temp\claude\C--Users-Dell-Documents-chakravyuh\a4ec3c1a-964e-4574-a792-caf74a383059\scratchpad\virgil_ppt\icons\networ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53174" y="3663086"/>
            <a:ext cx="263347" cy="263347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6510528" y="4251960"/>
            <a:ext cx="20939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Fraud chain detection</a:t>
            </a:r>
            <a:endParaRPr lang="en-US" sz="1400" dirty="0"/>
          </a:p>
        </p:txBody>
      </p:sp>
      <p:sp>
        <p:nvSpPr>
          <p:cNvPr id="20" name="Text 15"/>
          <p:cNvSpPr txBox="1"/>
          <p:nvPr/>
        </p:nvSpPr>
        <p:spPr>
          <a:xfrm>
            <a:off x="6510528" y="4983480"/>
            <a:ext cx="209397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 takeover → exploitation, laundering rings, layering</a:t>
            </a:r>
            <a:endParaRPr lang="en-US" sz="1100" dirty="0"/>
          </a:p>
        </p:txBody>
      </p:sp>
      <p:sp>
        <p:nvSpPr>
          <p:cNvPr id="21" name="Shape 16"/>
          <p:cNvSpPr/>
          <p:nvPr/>
        </p:nvSpPr>
        <p:spPr>
          <a:xfrm>
            <a:off x="9061704" y="3246120"/>
            <a:ext cx="2606040" cy="2880360"/>
          </a:xfrm>
          <a:prstGeom prst="roundRect">
            <a:avLst>
              <a:gd name="adj" fmla="val 2807"/>
            </a:avLst>
          </a:prstGeom>
          <a:solidFill>
            <a:srgbClr val="141B2E"/>
          </a:solidFill>
          <a:ln w="12700">
            <a:solidFill>
              <a:srgbClr val="223049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9317736" y="3520440"/>
            <a:ext cx="548640" cy="548640"/>
          </a:xfrm>
          <a:prstGeom prst="ellipse">
            <a:avLst/>
          </a:prstGeom>
          <a:solidFill>
            <a:srgbClr val="1D3B66"/>
          </a:solidFill>
          <a:ln/>
        </p:spPr>
      </p:sp>
      <p:pic>
        <p:nvPicPr>
          <p:cNvPr id="23" name="Image 3" descr="C:\Users\Dell\AppData\Local\Temp\claude\C--Users-Dell-Documents-chakravyuh\a4ec3c1a-964e-4574-a792-caf74a383059\scratchpad\virgil_ppt\icons\gaug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60382" y="3663086"/>
            <a:ext cx="263347" cy="263347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9317736" y="4251960"/>
            <a:ext cx="20939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Real-time, low latency</a:t>
            </a:r>
            <a:endParaRPr lang="en-US" sz="1400" dirty="0"/>
          </a:p>
        </p:txBody>
      </p:sp>
      <p:sp>
        <p:nvSpPr>
          <p:cNvPr id="25" name="Text 19"/>
          <p:cNvSpPr txBox="1"/>
          <p:nvPr/>
        </p:nvSpPr>
        <p:spPr>
          <a:xfrm>
            <a:off x="9317736" y="4983480"/>
            <a:ext cx="209397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scoring in milliseconds, not batch jobs</a:t>
            </a:r>
            <a:endParaRPr lang="en-US" sz="1100" dirty="0"/>
          </a:p>
        </p:txBody>
      </p:sp>
      <p:sp>
        <p:nvSpPr>
          <p:cNvPr id="26" name="Text 20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SOLUTION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4980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Virgil, at a Glance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46304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full-stack fraud intelligence platform: a mock banking payment app that scores every transaction in real time, plus the analyst and executive consoles a bank’s fraud team would actually use.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5257800" cy="1874520"/>
          </a:xfrm>
          <a:prstGeom prst="roundRect">
            <a:avLst>
              <a:gd name="adj" fmla="val 3902"/>
            </a:avLst>
          </a:prstGeom>
          <a:solidFill>
            <a:srgbClr val="141B2E"/>
          </a:solidFill>
          <a:ln w="12700">
            <a:solidFill>
              <a:srgbClr val="22304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2651760"/>
            <a:ext cx="658368" cy="658368"/>
          </a:xfrm>
          <a:prstGeom prst="ellipse">
            <a:avLst/>
          </a:prstGeom>
          <a:solidFill>
            <a:srgbClr val="1D3B66"/>
          </a:solidFill>
          <a:ln/>
        </p:spPr>
      </p:sp>
      <p:pic>
        <p:nvPicPr>
          <p:cNvPr id="7" name="Image 0" descr="C:\Users\Dell\AppData\Local\Temp\claude\C--Users-Dell-Documents-chakravyuh\a4ec3c1a-964e-4574-a792-caf74a383059\scratchpad\virgil_ppt\icons\z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5576" y="2822936"/>
            <a:ext cx="316017" cy="316017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783080" y="2624328"/>
            <a:ext cx="3886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Pre-Transaction Scoring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1783080" y="2990088"/>
            <a:ext cx="3886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Five-signal deterministic risk engine, 0–100 score, decision in milliseconds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2331720"/>
            <a:ext cx="5257800" cy="1874520"/>
          </a:xfrm>
          <a:prstGeom prst="roundRect">
            <a:avLst>
              <a:gd name="adj" fmla="val 3902"/>
            </a:avLst>
          </a:prstGeom>
          <a:solidFill>
            <a:srgbClr val="141B2E"/>
          </a:solidFill>
          <a:ln w="12700">
            <a:solidFill>
              <a:srgbClr val="223049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6537960" y="2651760"/>
            <a:ext cx="658368" cy="658368"/>
          </a:xfrm>
          <a:prstGeom prst="ellipse">
            <a:avLst/>
          </a:prstGeom>
          <a:solidFill>
            <a:srgbClr val="1D3B66"/>
          </a:solidFill>
          <a:ln/>
        </p:spPr>
      </p:sp>
      <p:pic>
        <p:nvPicPr>
          <p:cNvPr id="12" name="Image 1" descr="C:\Users\Dell\AppData\Local\Temp\claude\C--Users-Dell-Documents-chakravyuh\a4ec3c1a-964e-4574-a792-caf74a383059\scratchpad\virgil_ppt\icons\smartphon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09136" y="2822936"/>
            <a:ext cx="316017" cy="316017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7406640" y="2624328"/>
            <a:ext cx="3886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Device &amp; Network Intelligence</a:t>
            </a:r>
            <a:endParaRPr lang="en-US" sz="1500" dirty="0"/>
          </a:p>
        </p:txBody>
      </p:sp>
      <p:sp>
        <p:nvSpPr>
          <p:cNvPr id="14" name="Text 10"/>
          <p:cNvSpPr txBox="1"/>
          <p:nvPr/>
        </p:nvSpPr>
        <p:spPr>
          <a:xfrm>
            <a:off x="7406640" y="2990088"/>
            <a:ext cx="3886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per-account device trust, IP risk, and transaction graph signals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640080" y="4526280"/>
            <a:ext cx="5257800" cy="1874520"/>
          </a:xfrm>
          <a:prstGeom prst="roundRect">
            <a:avLst>
              <a:gd name="adj" fmla="val 3902"/>
            </a:avLst>
          </a:prstGeom>
          <a:solidFill>
            <a:srgbClr val="141B2E"/>
          </a:solidFill>
          <a:ln w="12700">
            <a:solidFill>
              <a:srgbClr val="223049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914400" y="4846320"/>
            <a:ext cx="658368" cy="658368"/>
          </a:xfrm>
          <a:prstGeom prst="ellipse">
            <a:avLst/>
          </a:prstGeom>
          <a:solidFill>
            <a:srgbClr val="1D3B66"/>
          </a:solidFill>
          <a:ln/>
        </p:spPr>
      </p:sp>
      <p:pic>
        <p:nvPicPr>
          <p:cNvPr id="17" name="Image 2" descr="C:\Users\Dell\AppData\Local\Temp\claude\C--Users-Dell-Documents-chakravyuh\a4ec3c1a-964e-4574-a792-caf74a383059\scratchpad\virgil_ppt\icons\layoutdashboar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5576" y="5017496"/>
            <a:ext cx="316017" cy="316017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1783080" y="4818888"/>
            <a:ext cx="3886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Console</a:t>
            </a:r>
            <a:endParaRPr lang="en-US" sz="1500" dirty="0"/>
          </a:p>
        </p:txBody>
      </p:sp>
      <p:sp>
        <p:nvSpPr>
          <p:cNvPr id="19" name="Text 14"/>
          <p:cNvSpPr txBox="1"/>
          <p:nvPr/>
        </p:nvSpPr>
        <p:spPr>
          <a:xfrm>
            <a:off x="1783080" y="5184648"/>
            <a:ext cx="3886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 inbox, investigation cases, fund-flow graph, manual review queue</a:t>
            </a:r>
            <a:endParaRPr lang="en-US" sz="1150" dirty="0"/>
          </a:p>
        </p:txBody>
      </p:sp>
      <p:sp>
        <p:nvSpPr>
          <p:cNvPr id="20" name="Shape 15"/>
          <p:cNvSpPr/>
          <p:nvPr/>
        </p:nvSpPr>
        <p:spPr>
          <a:xfrm>
            <a:off x="6263640" y="4526280"/>
            <a:ext cx="5257800" cy="1874520"/>
          </a:xfrm>
          <a:prstGeom prst="roundRect">
            <a:avLst>
              <a:gd name="adj" fmla="val 3902"/>
            </a:avLst>
          </a:prstGeom>
          <a:solidFill>
            <a:srgbClr val="141B2E"/>
          </a:solidFill>
          <a:ln w="12700">
            <a:solidFill>
              <a:srgbClr val="223049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6537960" y="4846320"/>
            <a:ext cx="658368" cy="658368"/>
          </a:xfrm>
          <a:prstGeom prst="ellipse">
            <a:avLst/>
          </a:prstGeom>
          <a:solidFill>
            <a:srgbClr val="1D3B66"/>
          </a:solidFill>
          <a:ln/>
        </p:spPr>
      </p:sp>
      <p:pic>
        <p:nvPicPr>
          <p:cNvPr id="22" name="Image 3" descr="C:\Users\Dell\AppData\Local\Temp\claude\C--Users-Dell-Documents-chakravyuh\a4ec3c1a-964e-4574-a792-caf74a383059\scratchpad\virgil_ppt\icons\barchar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09136" y="5017496"/>
            <a:ext cx="316017" cy="316017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7406640" y="4818888"/>
            <a:ext cx="3886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Dashboard</a:t>
            </a:r>
            <a:endParaRPr lang="en-US" sz="1500" dirty="0"/>
          </a:p>
        </p:txBody>
      </p:sp>
      <p:sp>
        <p:nvSpPr>
          <p:cNvPr id="24" name="Text 18"/>
          <p:cNvSpPr txBox="1"/>
          <p:nvPr/>
        </p:nvSpPr>
        <p:spPr>
          <a:xfrm>
            <a:off x="7406640" y="5184648"/>
            <a:ext cx="3886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Fraud KPIs, compliance (STR/CTR), model health &amp; drift monitoring</a:t>
            </a:r>
            <a:endParaRPr lang="en-US" sz="1150" dirty="0"/>
          </a:p>
        </p:txBody>
      </p:sp>
      <p:sp>
        <p:nvSpPr>
          <p:cNvPr id="25" name="Text 19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IT’S BUILT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4980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Architecture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383280" cy="4206240"/>
          </a:xfrm>
          <a:prstGeom prst="roundRect">
            <a:avLst>
              <a:gd name="adj" fmla="val 2162"/>
            </a:avLst>
          </a:prstGeom>
          <a:solidFill>
            <a:srgbClr val="182238"/>
          </a:solidFill>
          <a:ln w="12700">
            <a:solidFill>
              <a:srgbClr val="22304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002536" y="2240280"/>
            <a:ext cx="658368" cy="658368"/>
          </a:xfrm>
          <a:prstGeom prst="ellipse">
            <a:avLst/>
          </a:prstGeom>
          <a:solidFill>
            <a:srgbClr val="1D3B66"/>
          </a:solidFill>
          <a:ln/>
        </p:spPr>
      </p:sp>
      <p:pic>
        <p:nvPicPr>
          <p:cNvPr id="6" name="Image 0" descr="C:\Users\Dell\AppData\Local\Temp\claude\C--Users-Dell-Documents-chakravyuh\a4ec3c1a-964e-4574-a792-caf74a383059\scratchpad\virgil_ppt\icons\smartpho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73712" y="2411456"/>
            <a:ext cx="316017" cy="31601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40080" y="301752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100" kern="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333756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Next.js 14 · TypeScript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960120" y="3749040"/>
            <a:ext cx="2743200" cy="0"/>
          </a:xfrm>
          <a:prstGeom prst="line">
            <a:avLst/>
          </a:prstGeom>
          <a:noFill/>
          <a:ln w="12700">
            <a:solidFill>
              <a:srgbClr val="223049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932688" y="39319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</a:t>
            </a:r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GPay mock payment UI</a:t>
            </a:r>
            <a:endParaRPr lang="en-US" sz="1150" dirty="0"/>
          </a:p>
        </p:txBody>
      </p:sp>
      <p:sp>
        <p:nvSpPr>
          <p:cNvPr id="11" name="Text 8"/>
          <p:cNvSpPr txBox="1"/>
          <p:nvPr/>
        </p:nvSpPr>
        <p:spPr>
          <a:xfrm>
            <a:off x="932688" y="4462272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</a:t>
            </a:r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device detection</a:t>
            </a:r>
            <a:endParaRPr lang="en-US" sz="1150" dirty="0"/>
          </a:p>
        </p:txBody>
      </p:sp>
      <p:sp>
        <p:nvSpPr>
          <p:cNvPr id="12" name="Text 9"/>
          <p:cNvSpPr txBox="1"/>
          <p:nvPr/>
        </p:nvSpPr>
        <p:spPr>
          <a:xfrm>
            <a:off x="932688" y="4992624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</a:t>
            </a:r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dashboard</a:t>
            </a:r>
            <a:endParaRPr lang="en-US" sz="1150" dirty="0"/>
          </a:p>
        </p:txBody>
      </p:sp>
      <p:sp>
        <p:nvSpPr>
          <p:cNvPr id="13" name="Text 10"/>
          <p:cNvSpPr txBox="1"/>
          <p:nvPr/>
        </p:nvSpPr>
        <p:spPr>
          <a:xfrm>
            <a:off x="932688" y="5522976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</a:t>
            </a:r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dashboard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4343400" y="1965960"/>
            <a:ext cx="3520440" cy="4206240"/>
          </a:xfrm>
          <a:prstGeom prst="roundRect">
            <a:avLst>
              <a:gd name="adj" fmla="val 2078"/>
            </a:avLst>
          </a:prstGeom>
          <a:solidFill>
            <a:srgbClr val="182238"/>
          </a:solidFill>
          <a:ln w="12700">
            <a:solidFill>
              <a:srgbClr val="223049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5774436" y="2240280"/>
            <a:ext cx="658368" cy="658368"/>
          </a:xfrm>
          <a:prstGeom prst="ellipse">
            <a:avLst/>
          </a:prstGeom>
          <a:solidFill>
            <a:srgbClr val="1D3B66"/>
          </a:solidFill>
          <a:ln/>
        </p:spPr>
      </p:sp>
      <p:pic>
        <p:nvPicPr>
          <p:cNvPr id="16" name="Image 1" descr="C:\Users\Dell\AppData\Local\Temp\claude\C--Users-Dell-Documents-chakravyuh\a4ec3c1a-964e-4574-a792-caf74a383059\scratchpad\virgil_ppt\icons\serv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5612" y="2411456"/>
            <a:ext cx="316017" cy="316017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4343400" y="3017520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100" kern="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1500" dirty="0"/>
          </a:p>
        </p:txBody>
      </p:sp>
      <p:sp>
        <p:nvSpPr>
          <p:cNvPr id="18" name="Text 14"/>
          <p:cNvSpPr txBox="1"/>
          <p:nvPr/>
        </p:nvSpPr>
        <p:spPr>
          <a:xfrm>
            <a:off x="4343400" y="3337560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· Python 3.11</a:t>
            </a:r>
            <a:endParaRPr lang="en-US" sz="1050" dirty="0"/>
          </a:p>
        </p:txBody>
      </p:sp>
      <p:sp>
        <p:nvSpPr>
          <p:cNvPr id="19" name="Shape 15"/>
          <p:cNvSpPr/>
          <p:nvPr/>
        </p:nvSpPr>
        <p:spPr>
          <a:xfrm>
            <a:off x="4663440" y="3749040"/>
            <a:ext cx="2880360" cy="0"/>
          </a:xfrm>
          <a:prstGeom prst="line">
            <a:avLst/>
          </a:prstGeom>
          <a:noFill/>
          <a:ln w="12700">
            <a:solidFill>
              <a:srgbClr val="223049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4636008" y="3931920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</a:t>
            </a:r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5-signal scoring engine</a:t>
            </a:r>
            <a:endParaRPr lang="en-US" sz="1150" dirty="0"/>
          </a:p>
        </p:txBody>
      </p:sp>
      <p:sp>
        <p:nvSpPr>
          <p:cNvPr id="21" name="Text 17"/>
          <p:cNvSpPr txBox="1"/>
          <p:nvPr/>
        </p:nvSpPr>
        <p:spPr>
          <a:xfrm>
            <a:off x="4636008" y="4462272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</a:t>
            </a:r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 / network analysis</a:t>
            </a:r>
            <a:endParaRPr lang="en-US" sz="1150" dirty="0"/>
          </a:p>
        </p:txBody>
      </p:sp>
      <p:sp>
        <p:nvSpPr>
          <p:cNvPr id="22" name="Text 18"/>
          <p:cNvSpPr txBox="1"/>
          <p:nvPr/>
        </p:nvSpPr>
        <p:spPr>
          <a:xfrm>
            <a:off x="4636008" y="4992624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</a:t>
            </a:r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 &amp; case generation</a:t>
            </a:r>
            <a:endParaRPr lang="en-US" sz="1150" dirty="0"/>
          </a:p>
        </p:txBody>
      </p:sp>
      <p:sp>
        <p:nvSpPr>
          <p:cNvPr id="23" name="Text 19"/>
          <p:cNvSpPr txBox="1"/>
          <p:nvPr/>
        </p:nvSpPr>
        <p:spPr>
          <a:xfrm>
            <a:off x="4636008" y="5522976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</a:t>
            </a:r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explainer (dormant)</a:t>
            </a:r>
            <a:endParaRPr lang="en-US" sz="1150" dirty="0"/>
          </a:p>
        </p:txBody>
      </p:sp>
      <p:sp>
        <p:nvSpPr>
          <p:cNvPr id="24" name="Shape 20"/>
          <p:cNvSpPr/>
          <p:nvPr/>
        </p:nvSpPr>
        <p:spPr>
          <a:xfrm>
            <a:off x="8275320" y="1965960"/>
            <a:ext cx="3246120" cy="4206240"/>
          </a:xfrm>
          <a:prstGeom prst="roundRect">
            <a:avLst>
              <a:gd name="adj" fmla="val 2254"/>
            </a:avLst>
          </a:prstGeom>
          <a:solidFill>
            <a:srgbClr val="182238"/>
          </a:solidFill>
          <a:ln w="12700">
            <a:solidFill>
              <a:srgbClr val="223049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9569196" y="2240280"/>
            <a:ext cx="658368" cy="658368"/>
          </a:xfrm>
          <a:prstGeom prst="ellipse">
            <a:avLst/>
          </a:prstGeom>
          <a:solidFill>
            <a:srgbClr val="1D3B66"/>
          </a:solidFill>
          <a:ln/>
        </p:spPr>
      </p:sp>
      <p:pic>
        <p:nvPicPr>
          <p:cNvPr id="26" name="Image 2" descr="C:\Users\Dell\AppData\Local\Temp\claude\C--Users-Dell-Documents-chakravyuh\a4ec3c1a-964e-4574-a792-caf74a383059\scratchpad\virgil_ppt\icons\databas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40372" y="2411456"/>
            <a:ext cx="316017" cy="316017"/>
          </a:xfrm>
          <a:prstGeom prst="rect">
            <a:avLst/>
          </a:prstGeom>
        </p:spPr>
      </p:pic>
      <p:sp>
        <p:nvSpPr>
          <p:cNvPr id="27" name="Text 22"/>
          <p:cNvSpPr txBox="1"/>
          <p:nvPr/>
        </p:nvSpPr>
        <p:spPr>
          <a:xfrm>
            <a:off x="8275320" y="3017520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100" kern="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1500" dirty="0"/>
          </a:p>
        </p:txBody>
      </p:sp>
      <p:sp>
        <p:nvSpPr>
          <p:cNvPr id="28" name="Text 23"/>
          <p:cNvSpPr txBox="1"/>
          <p:nvPr/>
        </p:nvSpPr>
        <p:spPr>
          <a:xfrm>
            <a:off x="8275320" y="333756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 records · in-memory</a:t>
            </a:r>
            <a:endParaRPr lang="en-US" sz="1050" dirty="0"/>
          </a:p>
        </p:txBody>
      </p:sp>
      <p:sp>
        <p:nvSpPr>
          <p:cNvPr id="29" name="Shape 24"/>
          <p:cNvSpPr/>
          <p:nvPr/>
        </p:nvSpPr>
        <p:spPr>
          <a:xfrm>
            <a:off x="8595360" y="3749040"/>
            <a:ext cx="2606040" cy="0"/>
          </a:xfrm>
          <a:prstGeom prst="line">
            <a:avLst/>
          </a:prstGeom>
          <a:noFill/>
          <a:ln w="12700">
            <a:solidFill>
              <a:srgbClr val="223049"/>
            </a:solidFill>
            <a:prstDash val="solid"/>
          </a:ln>
        </p:spPr>
      </p:sp>
      <p:sp>
        <p:nvSpPr>
          <p:cNvPr id="30" name="Text 25"/>
          <p:cNvSpPr txBox="1"/>
          <p:nvPr/>
        </p:nvSpPr>
        <p:spPr>
          <a:xfrm>
            <a:off x="8567928" y="3931920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</a:t>
            </a:r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 account profiles</a:t>
            </a:r>
            <a:endParaRPr lang="en-US" sz="1150" dirty="0"/>
          </a:p>
        </p:txBody>
      </p:sp>
      <p:sp>
        <p:nvSpPr>
          <p:cNvPr id="31" name="Text 26"/>
          <p:cNvSpPr txBox="1"/>
          <p:nvPr/>
        </p:nvSpPr>
        <p:spPr>
          <a:xfrm>
            <a:off x="8567928" y="4462272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</a:t>
            </a:r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Per-account device trust</a:t>
            </a:r>
            <a:endParaRPr lang="en-US" sz="1150" dirty="0"/>
          </a:p>
        </p:txBody>
      </p:sp>
      <p:sp>
        <p:nvSpPr>
          <p:cNvPr id="32" name="Text 27"/>
          <p:cNvSpPr txBox="1"/>
          <p:nvPr/>
        </p:nvSpPr>
        <p:spPr>
          <a:xfrm>
            <a:off x="8567928" y="4992624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</a:t>
            </a:r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 history</a:t>
            </a:r>
            <a:endParaRPr lang="en-US" sz="1150" dirty="0"/>
          </a:p>
        </p:txBody>
      </p:sp>
      <p:sp>
        <p:nvSpPr>
          <p:cNvPr id="33" name="Text 28"/>
          <p:cNvSpPr txBox="1"/>
          <p:nvPr/>
        </p:nvSpPr>
        <p:spPr>
          <a:xfrm>
            <a:off x="8567928" y="5522976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</a:t>
            </a:r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Alerts &amp; cases</a:t>
            </a:r>
            <a:endParaRPr lang="en-US" sz="1150" dirty="0"/>
          </a:p>
        </p:txBody>
      </p:sp>
      <p:pic>
        <p:nvPicPr>
          <p:cNvPr id="34" name="Image 3" descr="C:\Users\Dell\AppData\Local\Temp\claude\C--Users-Dell-Documents-chakravyuh\a4ec3c1a-964e-4574-a792-caf74a383059\scratchpad\virgil_ppt\icons\arrowrigh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69080" y="2313432"/>
            <a:ext cx="274320" cy="274320"/>
          </a:xfrm>
          <a:prstGeom prst="rect">
            <a:avLst/>
          </a:prstGeom>
        </p:spPr>
      </p:pic>
      <p:sp>
        <p:nvSpPr>
          <p:cNvPr id="35" name="Text 29"/>
          <p:cNvSpPr txBox="1"/>
          <p:nvPr/>
        </p:nvSpPr>
        <p:spPr>
          <a:xfrm>
            <a:off x="3566160" y="260604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/score</a:t>
            </a:r>
            <a:endParaRPr lang="en-US" sz="850" dirty="0"/>
          </a:p>
        </p:txBody>
      </p:sp>
      <p:pic>
        <p:nvPicPr>
          <p:cNvPr id="36" name="Image 4" descr="C:\Users\Dell\AppData\Local\Temp\claude\C--Users-Dell-Documents-chakravyuh\a4ec3c1a-964e-4574-a792-caf74a383059\scratchpad\virgil_ppt\icons\arrowright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63840" y="2313432"/>
            <a:ext cx="274320" cy="274320"/>
          </a:xfrm>
          <a:prstGeom prst="rect">
            <a:avLst/>
          </a:prstGeom>
        </p:spPr>
      </p:pic>
      <p:sp>
        <p:nvSpPr>
          <p:cNvPr id="37" name="Text 30"/>
          <p:cNvSpPr txBox="1"/>
          <p:nvPr/>
        </p:nvSpPr>
        <p:spPr>
          <a:xfrm>
            <a:off x="7360920" y="260604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/ write</a:t>
            </a:r>
            <a:endParaRPr lang="en-US" sz="850" dirty="0"/>
          </a:p>
        </p:txBody>
      </p:sp>
      <p:sp>
        <p:nvSpPr>
          <p:cNvPr id="38" name="Text 31"/>
          <p:cNvSpPr txBox="1"/>
          <p:nvPr/>
        </p:nvSpPr>
        <p:spPr>
          <a:xfrm>
            <a:off x="640080" y="640080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external database required — the app runs entirely in-memory, seeded from JSON on startup, and degrades gracefully without PostgreSQL or an OpenAI key.</a:t>
            </a:r>
            <a:endParaRPr lang="en-US" sz="1100" dirty="0"/>
          </a:p>
        </p:txBody>
      </p:sp>
      <p:sp>
        <p:nvSpPr>
          <p:cNvPr id="39" name="Text 32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THE HOOD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4980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Technology Stack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5257800" cy="914400"/>
          </a:xfrm>
          <a:prstGeom prst="roundRect">
            <a:avLst>
              <a:gd name="adj" fmla="val 8000"/>
            </a:avLst>
          </a:prstGeom>
          <a:solidFill>
            <a:srgbClr val="141B2E"/>
          </a:solidFill>
          <a:ln w="12700">
            <a:solidFill>
              <a:srgbClr val="22304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41248" y="1773936"/>
            <a:ext cx="566928" cy="566928"/>
          </a:xfrm>
          <a:prstGeom prst="ellipse">
            <a:avLst/>
          </a:prstGeom>
          <a:solidFill>
            <a:srgbClr val="1D3B66"/>
          </a:solidFill>
          <a:ln/>
        </p:spPr>
      </p:sp>
      <p:pic>
        <p:nvPicPr>
          <p:cNvPr id="6" name="Image 0" descr="C:\Users\Dell\AppData\Local\Temp\claude\C--Users-Dell-Documents-chakravyuh\a4ec3c1a-964e-4574-a792-caf74a383059\scratchpad\virgil_ppt\icons\smartpho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8649" y="1921337"/>
            <a:ext cx="272125" cy="272125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54480" y="1728216"/>
            <a:ext cx="4160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1554480" y="2057400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Next.js 14, React, TypeScript, Tailwind CSS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6263640" y="1600200"/>
            <a:ext cx="5257800" cy="914400"/>
          </a:xfrm>
          <a:prstGeom prst="roundRect">
            <a:avLst>
              <a:gd name="adj" fmla="val 8000"/>
            </a:avLst>
          </a:prstGeom>
          <a:solidFill>
            <a:srgbClr val="141B2E"/>
          </a:solidFill>
          <a:ln w="12700">
            <a:solidFill>
              <a:srgbClr val="223049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464808" y="1773936"/>
            <a:ext cx="566928" cy="566928"/>
          </a:xfrm>
          <a:prstGeom prst="ellipse">
            <a:avLst/>
          </a:prstGeom>
          <a:solidFill>
            <a:srgbClr val="1D3B66"/>
          </a:solidFill>
          <a:ln/>
        </p:spPr>
      </p:sp>
      <p:pic>
        <p:nvPicPr>
          <p:cNvPr id="11" name="Image 1" descr="C:\Users\Dell\AppData\Local\Temp\claude\C--Users-Dell-Documents-chakravyuh\a4ec3c1a-964e-4574-a792-caf74a383059\scratchpad\virgil_ppt\icons\serv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2209" y="1921337"/>
            <a:ext cx="272125" cy="272125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178040" y="1728216"/>
            <a:ext cx="4160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1350" dirty="0"/>
          </a:p>
        </p:txBody>
      </p:sp>
      <p:sp>
        <p:nvSpPr>
          <p:cNvPr id="13" name="Text 9"/>
          <p:cNvSpPr txBox="1"/>
          <p:nvPr/>
        </p:nvSpPr>
        <p:spPr>
          <a:xfrm>
            <a:off x="7178040" y="2057400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FastAPI, Python 3.11, Pydantic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640080" y="2651760"/>
            <a:ext cx="5257800" cy="914400"/>
          </a:xfrm>
          <a:prstGeom prst="roundRect">
            <a:avLst>
              <a:gd name="adj" fmla="val 8000"/>
            </a:avLst>
          </a:prstGeom>
          <a:solidFill>
            <a:srgbClr val="141B2E"/>
          </a:solidFill>
          <a:ln w="12700">
            <a:solidFill>
              <a:srgbClr val="223049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841248" y="2825496"/>
            <a:ext cx="566928" cy="566928"/>
          </a:xfrm>
          <a:prstGeom prst="ellipse">
            <a:avLst/>
          </a:prstGeom>
          <a:solidFill>
            <a:srgbClr val="1D3B66"/>
          </a:solidFill>
          <a:ln/>
        </p:spPr>
      </p:sp>
      <p:pic>
        <p:nvPicPr>
          <p:cNvPr id="16" name="Image 2" descr="C:\Users\Dell\AppData\Local\Temp\claude\C--Users-Dell-Documents-chakravyuh\a4ec3c1a-964e-4574-a792-caf74a383059\scratchpad\virgil_ppt\icons\networ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8649" y="2972897"/>
            <a:ext cx="272125" cy="272125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554480" y="2779776"/>
            <a:ext cx="4160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 Engine</a:t>
            </a:r>
            <a:endParaRPr lang="en-US" sz="1350" dirty="0"/>
          </a:p>
        </p:txBody>
      </p:sp>
      <p:sp>
        <p:nvSpPr>
          <p:cNvPr id="18" name="Text 13"/>
          <p:cNvSpPr txBox="1"/>
          <p:nvPr/>
        </p:nvSpPr>
        <p:spPr>
          <a:xfrm>
            <a:off x="1554480" y="3108960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NetworkX — circular transfer &amp; layering detection</a:t>
            </a:r>
            <a:endParaRPr lang="en-US" sz="1050" dirty="0"/>
          </a:p>
        </p:txBody>
      </p:sp>
      <p:sp>
        <p:nvSpPr>
          <p:cNvPr id="19" name="Shape 14"/>
          <p:cNvSpPr/>
          <p:nvPr/>
        </p:nvSpPr>
        <p:spPr>
          <a:xfrm>
            <a:off x="6263640" y="2651760"/>
            <a:ext cx="5257800" cy="914400"/>
          </a:xfrm>
          <a:prstGeom prst="roundRect">
            <a:avLst>
              <a:gd name="adj" fmla="val 8000"/>
            </a:avLst>
          </a:prstGeom>
          <a:solidFill>
            <a:srgbClr val="141B2E"/>
          </a:solidFill>
          <a:ln w="12700">
            <a:solidFill>
              <a:srgbClr val="223049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6464808" y="2825496"/>
            <a:ext cx="566928" cy="566928"/>
          </a:xfrm>
          <a:prstGeom prst="ellipse">
            <a:avLst/>
          </a:prstGeom>
          <a:solidFill>
            <a:srgbClr val="1D3B66"/>
          </a:solidFill>
          <a:ln/>
        </p:spPr>
      </p:sp>
      <p:pic>
        <p:nvPicPr>
          <p:cNvPr id="21" name="Image 3" descr="C:\Users\Dell\AppData\Local\Temp\claude\C--Users-Dell-Documents-chakravyuh\a4ec3c1a-964e-4574-a792-caf74a383059\scratchpad\virgil_ppt\icons\brai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12209" y="2972897"/>
            <a:ext cx="272125" cy="272125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7178040" y="2779776"/>
            <a:ext cx="4160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/ LLM (future-ready)</a:t>
            </a:r>
            <a:endParaRPr lang="en-US" sz="1350" dirty="0"/>
          </a:p>
        </p:txBody>
      </p:sp>
      <p:sp>
        <p:nvSpPr>
          <p:cNvPr id="23" name="Text 17"/>
          <p:cNvSpPr txBox="1"/>
          <p:nvPr/>
        </p:nvSpPr>
        <p:spPr>
          <a:xfrm>
            <a:off x="7178040" y="3108960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OpenAI GPT-4o mini — wired in, dormant until enabled</a:t>
            </a:r>
            <a:endParaRPr lang="en-US" sz="1050" dirty="0"/>
          </a:p>
        </p:txBody>
      </p:sp>
      <p:sp>
        <p:nvSpPr>
          <p:cNvPr id="24" name="Shape 18"/>
          <p:cNvSpPr/>
          <p:nvPr/>
        </p:nvSpPr>
        <p:spPr>
          <a:xfrm>
            <a:off x="640080" y="3703320"/>
            <a:ext cx="5257800" cy="914400"/>
          </a:xfrm>
          <a:prstGeom prst="roundRect">
            <a:avLst>
              <a:gd name="adj" fmla="val 8000"/>
            </a:avLst>
          </a:prstGeom>
          <a:solidFill>
            <a:srgbClr val="141B2E"/>
          </a:solidFill>
          <a:ln w="12700">
            <a:solidFill>
              <a:srgbClr val="223049"/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841248" y="3877056"/>
            <a:ext cx="566928" cy="566928"/>
          </a:xfrm>
          <a:prstGeom prst="ellipse">
            <a:avLst/>
          </a:prstGeom>
          <a:solidFill>
            <a:srgbClr val="1D3B66"/>
          </a:solidFill>
          <a:ln/>
        </p:spPr>
      </p:sp>
      <p:pic>
        <p:nvPicPr>
          <p:cNvPr id="26" name="Image 4" descr="C:\Users\Dell\AppData\Local\Temp\claude\C--Users-Dell-Documents-chakravyuh\a4ec3c1a-964e-4574-a792-caf74a383059\scratchpad\virgil_ppt\icons\filetext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8649" y="4024457"/>
            <a:ext cx="272125" cy="272125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1554480" y="3831336"/>
            <a:ext cx="4160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Reporting</a:t>
            </a:r>
            <a:endParaRPr lang="en-US" sz="1350" dirty="0"/>
          </a:p>
        </p:txBody>
      </p:sp>
      <p:sp>
        <p:nvSpPr>
          <p:cNvPr id="28" name="Text 21"/>
          <p:cNvSpPr txBox="1"/>
          <p:nvPr/>
        </p:nvSpPr>
        <p:spPr>
          <a:xfrm>
            <a:off x="1554480" y="4160520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ReportLab — FIU-style PDF investigation reports</a:t>
            </a:r>
            <a:endParaRPr lang="en-US" sz="1050" dirty="0"/>
          </a:p>
        </p:txBody>
      </p:sp>
      <p:sp>
        <p:nvSpPr>
          <p:cNvPr id="29" name="Shape 22"/>
          <p:cNvSpPr/>
          <p:nvPr/>
        </p:nvSpPr>
        <p:spPr>
          <a:xfrm>
            <a:off x="6263640" y="3703320"/>
            <a:ext cx="5257800" cy="914400"/>
          </a:xfrm>
          <a:prstGeom prst="roundRect">
            <a:avLst>
              <a:gd name="adj" fmla="val 8000"/>
            </a:avLst>
          </a:prstGeom>
          <a:solidFill>
            <a:srgbClr val="141B2E"/>
          </a:solidFill>
          <a:ln w="12700">
            <a:solidFill>
              <a:srgbClr val="223049"/>
            </a:solidFill>
            <a:prstDash val="solid"/>
          </a:ln>
        </p:spPr>
      </p:sp>
      <p:sp>
        <p:nvSpPr>
          <p:cNvPr id="30" name="Shape 23"/>
          <p:cNvSpPr/>
          <p:nvPr/>
        </p:nvSpPr>
        <p:spPr>
          <a:xfrm>
            <a:off x="6464808" y="3877056"/>
            <a:ext cx="566928" cy="566928"/>
          </a:xfrm>
          <a:prstGeom prst="ellipse">
            <a:avLst/>
          </a:prstGeom>
          <a:solidFill>
            <a:srgbClr val="1D3B66"/>
          </a:solidFill>
          <a:ln/>
        </p:spPr>
      </p:sp>
      <p:pic>
        <p:nvPicPr>
          <p:cNvPr id="31" name="Image 5" descr="C:\Users\Dell\AppData\Local\Temp\claude\C--Users-Dell-Documents-chakravyuh\a4ec3c1a-964e-4574-a792-caf74a383059\scratchpad\virgil_ppt\icons\databas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12209" y="4024457"/>
            <a:ext cx="272125" cy="272125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7178040" y="3831336"/>
            <a:ext cx="4160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Layer</a:t>
            </a:r>
            <a:endParaRPr lang="en-US" sz="1350" dirty="0"/>
          </a:p>
        </p:txBody>
      </p:sp>
      <p:sp>
        <p:nvSpPr>
          <p:cNvPr id="33" name="Text 25"/>
          <p:cNvSpPr txBox="1"/>
          <p:nvPr/>
        </p:nvSpPr>
        <p:spPr>
          <a:xfrm>
            <a:off x="7178040" y="4160520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JSON-backed in-memory store, PostgreSQL-ready</a:t>
            </a:r>
            <a:endParaRPr lang="en-US" sz="1050" dirty="0"/>
          </a:p>
        </p:txBody>
      </p:sp>
      <p:sp>
        <p:nvSpPr>
          <p:cNvPr id="34" name="Text 26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ENGINE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4980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Signals, One Score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417320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transaction is scored 0–100 by five independent, additive checks — pure deterministic math, not a black-box model.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2103120"/>
            <a:ext cx="2048256" cy="3794760"/>
          </a:xfrm>
          <a:prstGeom prst="roundRect">
            <a:avLst>
              <a:gd name="adj" fmla="val 3571"/>
            </a:avLst>
          </a:prstGeom>
          <a:solidFill>
            <a:srgbClr val="141B2E"/>
          </a:solidFill>
          <a:ln w="12700">
            <a:solidFill>
              <a:srgbClr val="22304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353312" y="2377440"/>
            <a:ext cx="621792" cy="621792"/>
          </a:xfrm>
          <a:prstGeom prst="ellipse">
            <a:avLst/>
          </a:prstGeom>
          <a:solidFill>
            <a:srgbClr val="1D3B66"/>
          </a:solidFill>
          <a:ln/>
        </p:spPr>
      </p:sp>
      <p:pic>
        <p:nvPicPr>
          <p:cNvPr id="7" name="Image 0" descr="C:\Users\Dell\AppData\Local\Temp\claude\C--Users-Dell-Documents-chakravyuh\a4ec3c1a-964e-4574-a792-caf74a383059\scratchpad\virgil_ppt\icons\rupe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14978" y="2539106"/>
            <a:ext cx="298460" cy="29846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40080" y="3154680"/>
            <a:ext cx="20482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3400" dirty="0"/>
          </a:p>
        </p:txBody>
      </p:sp>
      <p:sp>
        <p:nvSpPr>
          <p:cNvPr id="9" name="Text 6"/>
          <p:cNvSpPr txBox="1"/>
          <p:nvPr/>
        </p:nvSpPr>
        <p:spPr>
          <a:xfrm>
            <a:off x="640080" y="3767328"/>
            <a:ext cx="20482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points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749808" y="416052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Amount Deviation</a:t>
            </a:r>
            <a:endParaRPr lang="en-US" sz="1250" dirty="0"/>
          </a:p>
        </p:txBody>
      </p:sp>
      <p:sp>
        <p:nvSpPr>
          <p:cNvPr id="11" name="Text 8"/>
          <p:cNvSpPr txBox="1"/>
          <p:nvPr/>
        </p:nvSpPr>
        <p:spPr>
          <a:xfrm>
            <a:off x="777240" y="4709160"/>
            <a:ext cx="177393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far this payment is from the sender’s own baseline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2825496" y="2103120"/>
            <a:ext cx="2048256" cy="3794760"/>
          </a:xfrm>
          <a:prstGeom prst="roundRect">
            <a:avLst>
              <a:gd name="adj" fmla="val 3571"/>
            </a:avLst>
          </a:prstGeom>
          <a:solidFill>
            <a:srgbClr val="141B2E"/>
          </a:solidFill>
          <a:ln w="12700">
            <a:solidFill>
              <a:srgbClr val="223049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538728" y="2377440"/>
            <a:ext cx="621792" cy="621792"/>
          </a:xfrm>
          <a:prstGeom prst="ellipse">
            <a:avLst/>
          </a:prstGeom>
          <a:solidFill>
            <a:srgbClr val="1D3B66"/>
          </a:solidFill>
          <a:ln/>
        </p:spPr>
      </p:sp>
      <p:pic>
        <p:nvPicPr>
          <p:cNvPr id="14" name="Image 1" descr="C:\Users\Dell\AppData\Local\Temp\claude\C--Users-Dell-Documents-chakravyuh\a4ec3c1a-964e-4574-a792-caf74a383059\scratchpad\virgil_ppt\icons\clo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00394" y="2539106"/>
            <a:ext cx="298460" cy="298460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2825496" y="3154680"/>
            <a:ext cx="20482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3400" dirty="0"/>
          </a:p>
        </p:txBody>
      </p:sp>
      <p:sp>
        <p:nvSpPr>
          <p:cNvPr id="16" name="Text 12"/>
          <p:cNvSpPr txBox="1"/>
          <p:nvPr/>
        </p:nvSpPr>
        <p:spPr>
          <a:xfrm>
            <a:off x="2825496" y="3767328"/>
            <a:ext cx="20482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points</a:t>
            </a:r>
            <a:endParaRPr lang="en-US" sz="900" dirty="0"/>
          </a:p>
        </p:txBody>
      </p:sp>
      <p:sp>
        <p:nvSpPr>
          <p:cNvPr id="17" name="Text 13"/>
          <p:cNvSpPr txBox="1"/>
          <p:nvPr/>
        </p:nvSpPr>
        <p:spPr>
          <a:xfrm>
            <a:off x="2935224" y="416052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of Day</a:t>
            </a:r>
            <a:endParaRPr lang="en-US" sz="1250" dirty="0"/>
          </a:p>
        </p:txBody>
      </p:sp>
      <p:sp>
        <p:nvSpPr>
          <p:cNvPr id="18" name="Text 14"/>
          <p:cNvSpPr txBox="1"/>
          <p:nvPr/>
        </p:nvSpPr>
        <p:spPr>
          <a:xfrm>
            <a:off x="2962656" y="4709160"/>
            <a:ext cx="177393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Outside the sender’s normal active hours</a:t>
            </a:r>
            <a:endParaRPr lang="en-US" sz="950" dirty="0"/>
          </a:p>
        </p:txBody>
      </p:sp>
      <p:sp>
        <p:nvSpPr>
          <p:cNvPr id="19" name="Shape 15"/>
          <p:cNvSpPr/>
          <p:nvPr/>
        </p:nvSpPr>
        <p:spPr>
          <a:xfrm>
            <a:off x="5010912" y="2103120"/>
            <a:ext cx="2048256" cy="3794760"/>
          </a:xfrm>
          <a:prstGeom prst="roundRect">
            <a:avLst>
              <a:gd name="adj" fmla="val 3571"/>
            </a:avLst>
          </a:prstGeom>
          <a:solidFill>
            <a:srgbClr val="141B2E"/>
          </a:solidFill>
          <a:ln w="12700">
            <a:solidFill>
              <a:srgbClr val="223049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5724144" y="2377440"/>
            <a:ext cx="621792" cy="621792"/>
          </a:xfrm>
          <a:prstGeom prst="ellipse">
            <a:avLst/>
          </a:prstGeom>
          <a:solidFill>
            <a:srgbClr val="1D3B66"/>
          </a:solidFill>
          <a:ln/>
        </p:spPr>
      </p:sp>
      <p:pic>
        <p:nvPicPr>
          <p:cNvPr id="21" name="Image 2" descr="C:\Users\Dell\AppData\Local\Temp\claude\C--Users-Dell-Documents-chakravyuh\a4ec3c1a-964e-4574-a792-caf74a383059\scratchpad\virgil_ppt\icons\smartphon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85810" y="2539106"/>
            <a:ext cx="298460" cy="298460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5010912" y="3154680"/>
            <a:ext cx="20482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3400" dirty="0"/>
          </a:p>
        </p:txBody>
      </p:sp>
      <p:sp>
        <p:nvSpPr>
          <p:cNvPr id="23" name="Text 18"/>
          <p:cNvSpPr txBox="1"/>
          <p:nvPr/>
        </p:nvSpPr>
        <p:spPr>
          <a:xfrm>
            <a:off x="5010912" y="3767328"/>
            <a:ext cx="20482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points</a:t>
            </a:r>
            <a:endParaRPr lang="en-US" sz="900" dirty="0"/>
          </a:p>
        </p:txBody>
      </p:sp>
      <p:sp>
        <p:nvSpPr>
          <p:cNvPr id="24" name="Text 19"/>
          <p:cNvSpPr txBox="1"/>
          <p:nvPr/>
        </p:nvSpPr>
        <p:spPr>
          <a:xfrm>
            <a:off x="5120640" y="416052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Device Trust</a:t>
            </a:r>
            <a:endParaRPr lang="en-US" sz="1250" dirty="0"/>
          </a:p>
        </p:txBody>
      </p:sp>
      <p:sp>
        <p:nvSpPr>
          <p:cNvPr id="25" name="Text 20"/>
          <p:cNvSpPr txBox="1"/>
          <p:nvPr/>
        </p:nvSpPr>
        <p:spPr>
          <a:xfrm>
            <a:off x="5148072" y="4709160"/>
            <a:ext cx="177393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Registered device vs. an unrecognized one</a:t>
            </a:r>
            <a:endParaRPr lang="en-US" sz="950" dirty="0"/>
          </a:p>
        </p:txBody>
      </p:sp>
      <p:sp>
        <p:nvSpPr>
          <p:cNvPr id="26" name="Shape 21"/>
          <p:cNvSpPr/>
          <p:nvPr/>
        </p:nvSpPr>
        <p:spPr>
          <a:xfrm>
            <a:off x="7196328" y="2103120"/>
            <a:ext cx="2048256" cy="3794760"/>
          </a:xfrm>
          <a:prstGeom prst="roundRect">
            <a:avLst>
              <a:gd name="adj" fmla="val 3571"/>
            </a:avLst>
          </a:prstGeom>
          <a:solidFill>
            <a:srgbClr val="141B2E"/>
          </a:solidFill>
          <a:ln w="12700">
            <a:solidFill>
              <a:srgbClr val="223049"/>
            </a:solidFill>
            <a:prstDash val="solid"/>
          </a:ln>
        </p:spPr>
      </p:sp>
      <p:sp>
        <p:nvSpPr>
          <p:cNvPr id="27" name="Shape 22"/>
          <p:cNvSpPr/>
          <p:nvPr/>
        </p:nvSpPr>
        <p:spPr>
          <a:xfrm>
            <a:off x="7909560" y="2377440"/>
            <a:ext cx="621792" cy="621792"/>
          </a:xfrm>
          <a:prstGeom prst="ellipse">
            <a:avLst/>
          </a:prstGeom>
          <a:solidFill>
            <a:srgbClr val="1D3B66"/>
          </a:solidFill>
          <a:ln/>
        </p:spPr>
      </p:sp>
      <p:pic>
        <p:nvPicPr>
          <p:cNvPr id="28" name="Image 3" descr="C:\Users\Dell\AppData\Local\Temp\claude\C--Users-Dell-Documents-chakravyuh\a4ec3c1a-964e-4574-a792-caf74a383059\scratchpad\virgil_ppt\icons\user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1226" y="2539106"/>
            <a:ext cx="298460" cy="298460"/>
          </a:xfrm>
          <a:prstGeom prst="rect">
            <a:avLst/>
          </a:prstGeom>
        </p:spPr>
      </p:pic>
      <p:sp>
        <p:nvSpPr>
          <p:cNvPr id="29" name="Text 23"/>
          <p:cNvSpPr txBox="1"/>
          <p:nvPr/>
        </p:nvSpPr>
        <p:spPr>
          <a:xfrm>
            <a:off x="7196328" y="3154680"/>
            <a:ext cx="20482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3400" dirty="0"/>
          </a:p>
        </p:txBody>
      </p:sp>
      <p:sp>
        <p:nvSpPr>
          <p:cNvPr id="30" name="Text 24"/>
          <p:cNvSpPr txBox="1"/>
          <p:nvPr/>
        </p:nvSpPr>
        <p:spPr>
          <a:xfrm>
            <a:off x="7196328" y="3767328"/>
            <a:ext cx="20482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points</a:t>
            </a:r>
            <a:endParaRPr lang="en-US" sz="900" dirty="0"/>
          </a:p>
        </p:txBody>
      </p:sp>
      <p:sp>
        <p:nvSpPr>
          <p:cNvPr id="31" name="Text 25"/>
          <p:cNvSpPr txBox="1"/>
          <p:nvPr/>
        </p:nvSpPr>
        <p:spPr>
          <a:xfrm>
            <a:off x="7306056" y="416052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Beneficiary Risk</a:t>
            </a:r>
            <a:endParaRPr lang="en-US" sz="1250" dirty="0"/>
          </a:p>
        </p:txBody>
      </p:sp>
      <p:sp>
        <p:nvSpPr>
          <p:cNvPr id="32" name="Text 26"/>
          <p:cNvSpPr txBox="1"/>
          <p:nvPr/>
        </p:nvSpPr>
        <p:spPr>
          <a:xfrm>
            <a:off x="7333488" y="4709160"/>
            <a:ext cx="177393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First-time payee, risk rating, fraud flags</a:t>
            </a:r>
            <a:endParaRPr lang="en-US" sz="950" dirty="0"/>
          </a:p>
        </p:txBody>
      </p:sp>
      <p:sp>
        <p:nvSpPr>
          <p:cNvPr id="33" name="Shape 27"/>
          <p:cNvSpPr/>
          <p:nvPr/>
        </p:nvSpPr>
        <p:spPr>
          <a:xfrm>
            <a:off x="9381744" y="2103120"/>
            <a:ext cx="2048256" cy="3794760"/>
          </a:xfrm>
          <a:prstGeom prst="roundRect">
            <a:avLst>
              <a:gd name="adj" fmla="val 3571"/>
            </a:avLst>
          </a:prstGeom>
          <a:solidFill>
            <a:srgbClr val="141B2E"/>
          </a:solidFill>
          <a:ln w="12700">
            <a:solidFill>
              <a:srgbClr val="223049"/>
            </a:solidFill>
            <a:prstDash val="solid"/>
          </a:ln>
        </p:spPr>
      </p:sp>
      <p:sp>
        <p:nvSpPr>
          <p:cNvPr id="34" name="Shape 28"/>
          <p:cNvSpPr/>
          <p:nvPr/>
        </p:nvSpPr>
        <p:spPr>
          <a:xfrm>
            <a:off x="10094976" y="2377440"/>
            <a:ext cx="621792" cy="621792"/>
          </a:xfrm>
          <a:prstGeom prst="ellipse">
            <a:avLst/>
          </a:prstGeom>
          <a:solidFill>
            <a:srgbClr val="1D3B66"/>
          </a:solidFill>
          <a:ln/>
        </p:spPr>
      </p:sp>
      <p:pic>
        <p:nvPicPr>
          <p:cNvPr id="35" name="Image 4" descr="C:\Users\Dell\AppData\Local\Temp\claude\C--Users-Dell-Documents-chakravyuh\a4ec3c1a-964e-4574-a792-caf74a383059\scratchpad\virgil_ppt\icons\networ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56642" y="2539106"/>
            <a:ext cx="298460" cy="298460"/>
          </a:xfrm>
          <a:prstGeom prst="rect">
            <a:avLst/>
          </a:prstGeom>
        </p:spPr>
      </p:pic>
      <p:sp>
        <p:nvSpPr>
          <p:cNvPr id="36" name="Text 29"/>
          <p:cNvSpPr txBox="1"/>
          <p:nvPr/>
        </p:nvSpPr>
        <p:spPr>
          <a:xfrm>
            <a:off x="9381744" y="3154680"/>
            <a:ext cx="20482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3400" dirty="0"/>
          </a:p>
        </p:txBody>
      </p:sp>
      <p:sp>
        <p:nvSpPr>
          <p:cNvPr id="37" name="Text 30"/>
          <p:cNvSpPr txBox="1"/>
          <p:nvPr/>
        </p:nvSpPr>
        <p:spPr>
          <a:xfrm>
            <a:off x="9381744" y="3767328"/>
            <a:ext cx="20482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points</a:t>
            </a:r>
            <a:endParaRPr lang="en-US" sz="900" dirty="0"/>
          </a:p>
        </p:txBody>
      </p:sp>
      <p:sp>
        <p:nvSpPr>
          <p:cNvPr id="38" name="Text 31"/>
          <p:cNvSpPr txBox="1"/>
          <p:nvPr/>
        </p:nvSpPr>
        <p:spPr>
          <a:xfrm>
            <a:off x="9491472" y="416052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 / Network</a:t>
            </a:r>
            <a:endParaRPr lang="en-US" sz="1250" dirty="0"/>
          </a:p>
        </p:txBody>
      </p:sp>
      <p:sp>
        <p:nvSpPr>
          <p:cNvPr id="39" name="Text 32"/>
          <p:cNvSpPr txBox="1"/>
          <p:nvPr/>
        </p:nvSpPr>
        <p:spPr>
          <a:xfrm>
            <a:off x="9518904" y="4709160"/>
            <a:ext cx="177393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Circular transfers, layering, mule patterns</a:t>
            </a:r>
            <a:endParaRPr lang="en-US" sz="950" dirty="0"/>
          </a:p>
        </p:txBody>
      </p:sp>
      <p:sp>
        <p:nvSpPr>
          <p:cNvPr id="40" name="Text 33"/>
          <p:cNvSpPr txBox="1"/>
          <p:nvPr/>
        </p:nvSpPr>
        <p:spPr>
          <a:xfrm>
            <a:off x="640080" y="608076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= sum of all five, clamped to 0–100</a:t>
            </a:r>
            <a:endParaRPr lang="en-US" sz="1200" dirty="0"/>
          </a:p>
        </p:txBody>
      </p:sp>
      <p:sp>
        <p:nvSpPr>
          <p:cNvPr id="41" name="Text 3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THE MATH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4980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Worked Example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417320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Rajesh Patel (avg. spend ₹1,20,000/month) sends ₹1,50,000 to Vijay Kumar — a first-time, high-risk payee.</a:t>
            </a:r>
            <a:endParaRPr lang="en-US" sz="135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640080" y="2057400"/>
          <a:ext cx="6675120" cy="4160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7635240" y="2057400"/>
            <a:ext cx="3886200" cy="4160520"/>
          </a:xfrm>
          <a:prstGeom prst="roundRect">
            <a:avLst>
              <a:gd name="adj" fmla="val 1882"/>
            </a:avLst>
          </a:prstGeom>
          <a:solidFill>
            <a:srgbClr val="182238"/>
          </a:solidFill>
          <a:ln w="12700">
            <a:solidFill>
              <a:srgbClr val="223049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635240" y="2286000"/>
            <a:ext cx="3886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B9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67.25 / 100</a:t>
            </a:r>
            <a:endParaRPr lang="en-US" sz="3800" dirty="0"/>
          </a:p>
        </p:txBody>
      </p:sp>
      <p:sp>
        <p:nvSpPr>
          <p:cNvPr id="8" name="Text 5"/>
          <p:cNvSpPr txBox="1"/>
          <p:nvPr/>
        </p:nvSpPr>
        <p:spPr>
          <a:xfrm>
            <a:off x="7635240" y="3017520"/>
            <a:ext cx="3886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50" kern="0" dirty="0">
                <a:solidFill>
                  <a:srgbClr val="FB9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REVIEW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8001000" y="3520440"/>
            <a:ext cx="3154680" cy="0"/>
          </a:xfrm>
          <a:prstGeom prst="line">
            <a:avLst/>
          </a:prstGeom>
          <a:noFill/>
          <a:ln w="12700">
            <a:solidFill>
              <a:srgbClr val="223049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955280" y="374904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B92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 </a:t>
            </a:r>
            <a:pPr indent="0" marL="0">
              <a:buNone/>
            </a:pPr>
            <a:r>
              <a:rPr lang="en-US" sz="105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AMOUNT_DEVIATION_1.25X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7955280" y="413308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B92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 </a:t>
            </a:r>
            <a:pPr indent="0" marL="0">
              <a:buNone/>
            </a:pPr>
            <a:r>
              <a:rPr lang="en-US" sz="105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FIRST_TIME_BENEFICIARY</a:t>
            </a:r>
            <a:endParaRPr lang="en-US" sz="1050" dirty="0"/>
          </a:p>
        </p:txBody>
      </p:sp>
      <p:sp>
        <p:nvSpPr>
          <p:cNvPr id="12" name="Text 9"/>
          <p:cNvSpPr txBox="1"/>
          <p:nvPr/>
        </p:nvSpPr>
        <p:spPr>
          <a:xfrm>
            <a:off x="7955280" y="4517136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B92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 </a:t>
            </a:r>
            <a:pPr indent="0" marL="0">
              <a:buNone/>
            </a:pPr>
            <a:r>
              <a:rPr lang="en-US" sz="105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FLAG_HIGH_RISK_JURISDICTION</a:t>
            </a:r>
            <a:endParaRPr lang="en-US" sz="1050" dirty="0"/>
          </a:p>
        </p:txBody>
      </p:sp>
      <p:sp>
        <p:nvSpPr>
          <p:cNvPr id="13" name="Text 10"/>
          <p:cNvSpPr txBox="1"/>
          <p:nvPr/>
        </p:nvSpPr>
        <p:spPr>
          <a:xfrm>
            <a:off x="7955280" y="4901184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B92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 </a:t>
            </a:r>
            <a:pPr indent="0" marL="0">
              <a:buNone/>
            </a:pPr>
            <a:r>
              <a:rPr lang="en-US" sz="105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CIRCULAR_TRANSFERS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7955280" y="5285232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B92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 </a:t>
            </a:r>
            <a:pPr indent="0" marL="0">
              <a:buNone/>
            </a:pPr>
            <a:r>
              <a:rPr lang="en-US" sz="105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LAYERING_DETECTED</a:t>
            </a:r>
            <a:endParaRPr lang="en-US" sz="1050" dirty="0"/>
          </a:p>
        </p:txBody>
      </p:sp>
      <p:sp>
        <p:nvSpPr>
          <p:cNvPr id="15" name="Text 12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SCORE TO ACTION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4980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Decision Matrix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2606040" cy="3931920"/>
          </a:xfrm>
          <a:prstGeom prst="roundRect">
            <a:avLst>
              <a:gd name="adj" fmla="val 2807"/>
            </a:avLst>
          </a:prstGeom>
          <a:solidFill>
            <a:srgbClr val="182238"/>
          </a:solidFill>
          <a:ln w="12700">
            <a:solidFill>
              <a:srgbClr val="22304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920240"/>
            <a:ext cx="2606040" cy="109728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/>
        </p:spPr>
      </p:sp>
      <p:sp>
        <p:nvSpPr>
          <p:cNvPr id="6" name="Shape 4"/>
          <p:cNvSpPr/>
          <p:nvPr/>
        </p:nvSpPr>
        <p:spPr>
          <a:xfrm>
            <a:off x="1577340" y="2331720"/>
            <a:ext cx="731520" cy="731520"/>
          </a:xfrm>
          <a:prstGeom prst="ellipse">
            <a:avLst/>
          </a:prstGeom>
          <a:solidFill>
            <a:srgbClr val="22C55E"/>
          </a:solidFill>
          <a:ln/>
        </p:spPr>
      </p:sp>
      <p:pic>
        <p:nvPicPr>
          <p:cNvPr id="7" name="Image 0" descr="C:\Users\Dell\AppData\Local\Temp\claude\C--Users-Dell-Documents-chakravyuh\a4ec3c1a-964e-4574-a792-caf74a383059\scratchpad\virgil_ppt\icons\checkcirc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67535" y="2521915"/>
            <a:ext cx="351130" cy="35113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40080" y="329184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0–29</a:t>
            </a:r>
            <a:endParaRPr lang="en-US" sz="2200" dirty="0"/>
          </a:p>
        </p:txBody>
      </p:sp>
      <p:sp>
        <p:nvSpPr>
          <p:cNvPr id="9" name="Text 6"/>
          <p:cNvSpPr txBox="1"/>
          <p:nvPr/>
        </p:nvSpPr>
        <p:spPr>
          <a:xfrm>
            <a:off x="640080" y="374904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822960" y="4251960"/>
            <a:ext cx="2240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Goes through instantly — customer never sees a check happened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3447288" y="1920240"/>
            <a:ext cx="2606040" cy="3931920"/>
          </a:xfrm>
          <a:prstGeom prst="roundRect">
            <a:avLst>
              <a:gd name="adj" fmla="val 2807"/>
            </a:avLst>
          </a:prstGeom>
          <a:solidFill>
            <a:srgbClr val="182238"/>
          </a:solidFill>
          <a:ln w="12700">
            <a:solidFill>
              <a:srgbClr val="223049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3447288" y="1920240"/>
            <a:ext cx="2606040" cy="109728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/>
        </p:spPr>
      </p:sp>
      <p:sp>
        <p:nvSpPr>
          <p:cNvPr id="13" name="Shape 10"/>
          <p:cNvSpPr/>
          <p:nvPr/>
        </p:nvSpPr>
        <p:spPr>
          <a:xfrm>
            <a:off x="4384548" y="2331720"/>
            <a:ext cx="731520" cy="731520"/>
          </a:xfrm>
          <a:prstGeom prst="ellipse">
            <a:avLst/>
          </a:prstGeom>
          <a:solidFill>
            <a:srgbClr val="F59E0B"/>
          </a:solidFill>
          <a:ln/>
        </p:spPr>
      </p:sp>
      <p:pic>
        <p:nvPicPr>
          <p:cNvPr id="14" name="Image 1" descr="C:\Users\Dell\AppData\Local\Temp\claude\C--Users-Dell-Documents-chakravyuh\a4ec3c1a-964e-4574-a792-caf74a383059\scratchpad\virgil_ppt\icons\lo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4743" y="2521915"/>
            <a:ext cx="351130" cy="351130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3447288" y="329184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30–59</a:t>
            </a:r>
            <a:endParaRPr lang="en-US" sz="2200" dirty="0"/>
          </a:p>
        </p:txBody>
      </p:sp>
      <p:sp>
        <p:nvSpPr>
          <p:cNvPr id="16" name="Text 12"/>
          <p:cNvSpPr txBox="1"/>
          <p:nvPr/>
        </p:nvSpPr>
        <p:spPr>
          <a:xfrm>
            <a:off x="3447288" y="374904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MFA</a:t>
            </a:r>
            <a:endParaRPr lang="en-US" sz="1400" dirty="0"/>
          </a:p>
        </p:txBody>
      </p:sp>
      <p:sp>
        <p:nvSpPr>
          <p:cNvPr id="17" name="Text 13"/>
          <p:cNvSpPr txBox="1"/>
          <p:nvPr/>
        </p:nvSpPr>
        <p:spPr>
          <a:xfrm>
            <a:off x="3630168" y="4251960"/>
            <a:ext cx="2240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Step-up verification — fingerprint / face / OTP</a:t>
            </a:r>
            <a:endParaRPr lang="en-US" sz="1050" dirty="0"/>
          </a:p>
        </p:txBody>
      </p:sp>
      <p:sp>
        <p:nvSpPr>
          <p:cNvPr id="18" name="Shape 14"/>
          <p:cNvSpPr/>
          <p:nvPr/>
        </p:nvSpPr>
        <p:spPr>
          <a:xfrm>
            <a:off x="6254496" y="1920240"/>
            <a:ext cx="2606040" cy="3931920"/>
          </a:xfrm>
          <a:prstGeom prst="roundRect">
            <a:avLst>
              <a:gd name="adj" fmla="val 2807"/>
            </a:avLst>
          </a:prstGeom>
          <a:solidFill>
            <a:srgbClr val="182238"/>
          </a:solidFill>
          <a:ln w="12700">
            <a:solidFill>
              <a:srgbClr val="223049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6254496" y="1920240"/>
            <a:ext cx="2606040" cy="109728"/>
          </a:xfrm>
          <a:prstGeom prst="roundRect">
            <a:avLst>
              <a:gd name="adj" fmla="val 50000"/>
            </a:avLst>
          </a:prstGeom>
          <a:solidFill>
            <a:srgbClr val="FB923C"/>
          </a:solidFill>
          <a:ln/>
        </p:spPr>
      </p:sp>
      <p:sp>
        <p:nvSpPr>
          <p:cNvPr id="20" name="Shape 16"/>
          <p:cNvSpPr/>
          <p:nvPr/>
        </p:nvSpPr>
        <p:spPr>
          <a:xfrm>
            <a:off x="7191756" y="2331720"/>
            <a:ext cx="731520" cy="731520"/>
          </a:xfrm>
          <a:prstGeom prst="ellipse">
            <a:avLst/>
          </a:prstGeom>
          <a:solidFill>
            <a:srgbClr val="FB923C"/>
          </a:solidFill>
          <a:ln/>
        </p:spPr>
      </p:sp>
      <p:pic>
        <p:nvPicPr>
          <p:cNvPr id="21" name="Image 2" descr="C:\Users\Dell\AppData\Local\Temp\claude\C--Users-Dell-Documents-chakravyuh\a4ec3c1a-964e-4574-a792-caf74a383059\scratchpad\virgil_ppt\icons\ey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81951" y="2521915"/>
            <a:ext cx="351130" cy="351130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6254496" y="329184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B9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60–79</a:t>
            </a:r>
            <a:endParaRPr lang="en-US" sz="2200" dirty="0"/>
          </a:p>
        </p:txBody>
      </p:sp>
      <p:sp>
        <p:nvSpPr>
          <p:cNvPr id="23" name="Text 18"/>
          <p:cNvSpPr txBox="1"/>
          <p:nvPr/>
        </p:nvSpPr>
        <p:spPr>
          <a:xfrm>
            <a:off x="6254496" y="374904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REVIEW</a:t>
            </a:r>
            <a:endParaRPr lang="en-US" sz="1400" dirty="0"/>
          </a:p>
        </p:txBody>
      </p:sp>
      <p:sp>
        <p:nvSpPr>
          <p:cNvPr id="24" name="Text 19"/>
          <p:cNvSpPr txBox="1"/>
          <p:nvPr/>
        </p:nvSpPr>
        <p:spPr>
          <a:xfrm>
            <a:off x="6437376" y="4251960"/>
            <a:ext cx="2240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Held; alert created; analyst investigates</a:t>
            </a:r>
            <a:endParaRPr lang="en-US" sz="1050" dirty="0"/>
          </a:p>
        </p:txBody>
      </p:sp>
      <p:sp>
        <p:nvSpPr>
          <p:cNvPr id="25" name="Shape 20"/>
          <p:cNvSpPr/>
          <p:nvPr/>
        </p:nvSpPr>
        <p:spPr>
          <a:xfrm>
            <a:off x="9061704" y="1920240"/>
            <a:ext cx="2606040" cy="3931920"/>
          </a:xfrm>
          <a:prstGeom prst="roundRect">
            <a:avLst>
              <a:gd name="adj" fmla="val 2807"/>
            </a:avLst>
          </a:prstGeom>
          <a:solidFill>
            <a:srgbClr val="182238"/>
          </a:solidFill>
          <a:ln w="12700">
            <a:solidFill>
              <a:srgbClr val="223049"/>
            </a:solidFill>
            <a:prstDash val="solid"/>
          </a:ln>
        </p:spPr>
      </p:sp>
      <p:sp>
        <p:nvSpPr>
          <p:cNvPr id="26" name="Shape 21"/>
          <p:cNvSpPr/>
          <p:nvPr/>
        </p:nvSpPr>
        <p:spPr>
          <a:xfrm>
            <a:off x="9061704" y="1920240"/>
            <a:ext cx="2606040" cy="109728"/>
          </a:xfrm>
          <a:prstGeom prst="roundRect">
            <a:avLst>
              <a:gd name="adj" fmla="val 50000"/>
            </a:avLst>
          </a:prstGeom>
          <a:solidFill>
            <a:srgbClr val="EF4444"/>
          </a:solidFill>
          <a:ln/>
        </p:spPr>
      </p:sp>
      <p:sp>
        <p:nvSpPr>
          <p:cNvPr id="27" name="Shape 22"/>
          <p:cNvSpPr/>
          <p:nvPr/>
        </p:nvSpPr>
        <p:spPr>
          <a:xfrm>
            <a:off x="9998964" y="2331720"/>
            <a:ext cx="731520" cy="731520"/>
          </a:xfrm>
          <a:prstGeom prst="ellipse">
            <a:avLst/>
          </a:prstGeom>
          <a:solidFill>
            <a:srgbClr val="EF4444"/>
          </a:solidFill>
          <a:ln/>
        </p:spPr>
      </p:sp>
      <p:pic>
        <p:nvPicPr>
          <p:cNvPr id="28" name="Image 3" descr="C:\Users\Dell\AppData\Local\Temp\claude\C--Users-Dell-Documents-chakravyuh\a4ec3c1a-964e-4574-a792-caf74a383059\scratchpad\virgil_ppt\icons\xcircl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89159" y="2521915"/>
            <a:ext cx="351130" cy="351130"/>
          </a:xfrm>
          <a:prstGeom prst="rect">
            <a:avLst/>
          </a:prstGeom>
        </p:spPr>
      </p:pic>
      <p:sp>
        <p:nvSpPr>
          <p:cNvPr id="29" name="Text 23"/>
          <p:cNvSpPr txBox="1"/>
          <p:nvPr/>
        </p:nvSpPr>
        <p:spPr>
          <a:xfrm>
            <a:off x="9061704" y="329184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80–100</a:t>
            </a:r>
            <a:endParaRPr lang="en-US" sz="2200" dirty="0"/>
          </a:p>
        </p:txBody>
      </p:sp>
      <p:sp>
        <p:nvSpPr>
          <p:cNvPr id="30" name="Text 24"/>
          <p:cNvSpPr txBox="1"/>
          <p:nvPr/>
        </p:nvSpPr>
        <p:spPr>
          <a:xfrm>
            <a:off x="9061704" y="374904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</a:t>
            </a:r>
            <a:endParaRPr lang="en-US" sz="1400" dirty="0"/>
          </a:p>
        </p:txBody>
      </p:sp>
      <p:sp>
        <p:nvSpPr>
          <p:cNvPr id="31" name="Text 25"/>
          <p:cNvSpPr txBox="1"/>
          <p:nvPr/>
        </p:nvSpPr>
        <p:spPr>
          <a:xfrm>
            <a:off x="9244584" y="4251960"/>
            <a:ext cx="2240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Rejected outright; alert + case auto-created</a:t>
            </a:r>
            <a:endParaRPr lang="en-US" sz="1050" dirty="0"/>
          </a:p>
        </p:txBody>
      </p:sp>
      <p:sp>
        <p:nvSpPr>
          <p:cNvPr id="32" name="Text 26"/>
          <p:cNvSpPr txBox="1"/>
          <p:nvPr/>
        </p:nvSpPr>
        <p:spPr>
          <a:xfrm>
            <a:off x="640080" y="603504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weak signal rarely blocks a transaction — BLOCK only happens when several signals compound, exactly as real fraud does.</a:t>
            </a:r>
            <a:endParaRPr lang="en-US" sz="1150" dirty="0"/>
          </a:p>
        </p:txBody>
      </p:sp>
      <p:sp>
        <p:nvSpPr>
          <p:cNvPr id="33" name="Text 27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 DEPTH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4980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 &amp; Fixing a Real Bug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5257800" cy="4434840"/>
          </a:xfrm>
          <a:prstGeom prst="roundRect">
            <a:avLst>
              <a:gd name="adj" fmla="val 1649"/>
            </a:avLst>
          </a:prstGeom>
          <a:solidFill>
            <a:srgbClr val="182238"/>
          </a:solidFill>
          <a:ln w="12700">
            <a:solidFill>
              <a:srgbClr val="223049"/>
            </a:solidFill>
            <a:prstDash val="solid"/>
          </a:ln>
        </p:spPr>
      </p:sp>
      <p:pic>
        <p:nvPicPr>
          <p:cNvPr id="5" name="Image 0" descr="C:\Users\Dell\AppData\Local\Temp\claude\C--Users-Dell-Documents-chakravyuh\a4ec3c1a-964e-4574-a792-caf74a383059\scratchpad\virgil_ppt\icons\bu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1874520"/>
            <a:ext cx="457200" cy="4572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508760" y="192024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2423160"/>
            <a:ext cx="4709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transaction was scored as if it came from a brand-new, unrecognized device — the mock payment app hardcoded device_known: false, and the scoring endpoint never checked real device records anyway.</a:t>
            </a:r>
            <a:endParaRPr lang="en-US" sz="115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70332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Deeper Bug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4041648"/>
            <a:ext cx="4709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While fixing it, found the account dropdown and the scoring engine were silently reading two different, disagreeing datasets for the same account IDs — same "ACC-008", two different identities.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1600200"/>
            <a:ext cx="5257800" cy="4434840"/>
          </a:xfrm>
          <a:prstGeom prst="roundRect">
            <a:avLst>
              <a:gd name="adj" fmla="val 1649"/>
            </a:avLst>
          </a:prstGeom>
          <a:solidFill>
            <a:srgbClr val="182238"/>
          </a:solidFill>
          <a:ln w="12700">
            <a:solidFill>
              <a:srgbClr val="223049"/>
            </a:solidFill>
            <a:prstDash val="solid"/>
          </a:ln>
        </p:spPr>
      </p:sp>
      <p:pic>
        <p:nvPicPr>
          <p:cNvPr id="11" name="Image 1" descr="C:\Users\Dell\AppData\Local\Temp\claude\C--Users-Dell-Documents-chakravyuh\a4ec3c1a-964e-4574-a792-caf74a383059\scratchpad\virgil_ppt\icons\wrench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7960" y="1874520"/>
            <a:ext cx="457200" cy="45720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132320" y="192024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Fix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6537960" y="2423160"/>
            <a:ext cx="46634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Gave every account a real registered device with a trust score — known accounts score cleanly, flagged accounts stay risky</a:t>
            </a:r>
            <a:endParaRPr lang="en-US" sz="1150" dirty="0"/>
          </a:p>
        </p:txBody>
      </p:sp>
      <p:sp>
        <p:nvSpPr>
          <p:cNvPr id="14" name="Text 10"/>
          <p:cNvSpPr txBox="1"/>
          <p:nvPr/>
        </p:nvSpPr>
        <p:spPr>
          <a:xfrm>
            <a:off x="6537960" y="3474720"/>
            <a:ext cx="46634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Made the scoring engine look up device trust server-side, instead of trusting the client</a:t>
            </a:r>
            <a:endParaRPr lang="en-US" sz="1150" dirty="0"/>
          </a:p>
        </p:txBody>
      </p:sp>
      <p:sp>
        <p:nvSpPr>
          <p:cNvPr id="15" name="Text 11"/>
          <p:cNvSpPr txBox="1"/>
          <p:nvPr/>
        </p:nvSpPr>
        <p:spPr>
          <a:xfrm>
            <a:off x="6537960" y="4526280"/>
            <a:ext cx="46634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 both data paths onto one consistent account dataset</a:t>
            </a:r>
            <a:endParaRPr lang="en-US" sz="1150" dirty="0"/>
          </a:p>
        </p:txBody>
      </p:sp>
      <p:sp>
        <p:nvSpPr>
          <p:cNvPr id="16" name="Text 12"/>
          <p:cNvSpPr txBox="1"/>
          <p:nvPr/>
        </p:nvSpPr>
        <p:spPr>
          <a:xfrm>
            <a:off x="6537960" y="553212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live, end-to-end, from a cold restart</a:t>
            </a:r>
            <a:endParaRPr lang="en-US" sz="1050" dirty="0"/>
          </a:p>
        </p:txBody>
      </p:sp>
      <p:sp>
        <p:nvSpPr>
          <p:cNvPr id="17" name="Text 13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TRACEABILITY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4980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Mapping to the Problem Statement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10881360" cy="649224"/>
          </a:xfrm>
          <a:prstGeom prst="roundRect">
            <a:avLst>
              <a:gd name="adj" fmla="val 11268"/>
            </a:avLst>
          </a:prstGeom>
          <a:solidFill>
            <a:srgbClr val="182238"/>
          </a:solidFill>
          <a:ln w="12700">
            <a:solidFill>
              <a:srgbClr val="223049"/>
            </a:solidFill>
            <a:prstDash val="solid"/>
          </a:ln>
        </p:spPr>
      </p:sp>
      <p:pic>
        <p:nvPicPr>
          <p:cNvPr id="5" name="Image 0" descr="C:\Users\Dell\AppData\Local\Temp\claude\C--Users-Dell-Documents-chakravyuh\a4ec3c1a-964e-4574-a792-caf74a383059\scratchpad\virgil_ppt\icons\checkcirc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1778508"/>
            <a:ext cx="292608" cy="29260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25880" y="1673352"/>
            <a:ext cx="3703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Behavioral profiles &amp; anomaly detection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5166360" y="1691640"/>
            <a:ext cx="0" cy="466344"/>
          </a:xfrm>
          <a:prstGeom prst="line">
            <a:avLst/>
          </a:prstGeom>
          <a:noFill/>
          <a:ln w="12700">
            <a:solidFill>
              <a:srgbClr val="223049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394960" y="1673352"/>
            <a:ext cx="5943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account has a stored baseline (avg. amount, active hours); each transaction is compared against it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40080" y="2359152"/>
            <a:ext cx="10881360" cy="649224"/>
          </a:xfrm>
          <a:prstGeom prst="roundRect">
            <a:avLst>
              <a:gd name="adj" fmla="val 11268"/>
            </a:avLst>
          </a:prstGeom>
          <a:solidFill>
            <a:srgbClr val="182238"/>
          </a:solidFill>
          <a:ln w="12700">
            <a:solidFill>
              <a:srgbClr val="223049"/>
            </a:solidFill>
            <a:prstDash val="solid"/>
          </a:ln>
        </p:spPr>
      </p:sp>
      <p:pic>
        <p:nvPicPr>
          <p:cNvPr id="10" name="Image 1" descr="C:\Users\Dell\AppData\Local\Temp\claude\C--Users-Dell-Documents-chakravyuh\a4ec3c1a-964e-4574-a792-caf74a383059\scratchpad\virgil_ppt\icons\checkcircl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2537460"/>
            <a:ext cx="292608" cy="29260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325880" y="2432304"/>
            <a:ext cx="3703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 fraud chains (ATO → abuse)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5166360" y="2450592"/>
            <a:ext cx="0" cy="466344"/>
          </a:xfrm>
          <a:prstGeom prst="line">
            <a:avLst/>
          </a:prstGeom>
          <a:noFill/>
          <a:ln w="12700">
            <a:solidFill>
              <a:srgbClr val="223049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5394960" y="2432304"/>
            <a:ext cx="5943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Device mismatch + amount deviation + new beneficiary are combined into one compounding score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640080" y="3118104"/>
            <a:ext cx="10881360" cy="649224"/>
          </a:xfrm>
          <a:prstGeom prst="roundRect">
            <a:avLst>
              <a:gd name="adj" fmla="val 11268"/>
            </a:avLst>
          </a:prstGeom>
          <a:solidFill>
            <a:srgbClr val="182238"/>
          </a:solidFill>
          <a:ln w="12700">
            <a:solidFill>
              <a:srgbClr val="223049"/>
            </a:solidFill>
            <a:prstDash val="solid"/>
          </a:ln>
        </p:spPr>
      </p:sp>
      <p:pic>
        <p:nvPicPr>
          <p:cNvPr id="15" name="Image 2" descr="C:\Users\Dell\AppData\Local\Temp\claude\C--Users-Dell-Documents-chakravyuh\a4ec3c1a-964e-4574-a792-caf74a383059\scratchpad\virgil_ppt\icons\checkcircl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3296412"/>
            <a:ext cx="292608" cy="29260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325880" y="3191256"/>
            <a:ext cx="3703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Dynamic risk scoring with explanations</a:t>
            </a:r>
            <a:endParaRPr lang="en-US" sz="1200" dirty="0"/>
          </a:p>
        </p:txBody>
      </p:sp>
      <p:sp>
        <p:nvSpPr>
          <p:cNvPr id="17" name="Shape 12"/>
          <p:cNvSpPr/>
          <p:nvPr/>
        </p:nvSpPr>
        <p:spPr>
          <a:xfrm>
            <a:off x="5166360" y="3209544"/>
            <a:ext cx="0" cy="466344"/>
          </a:xfrm>
          <a:prstGeom prst="line">
            <a:avLst/>
          </a:prstGeom>
          <a:noFill/>
          <a:ln w="12700">
            <a:solidFill>
              <a:srgbClr val="223049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5394960" y="3191256"/>
            <a:ext cx="5943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5-signal weighted engine, 0–100; reason codes generated for every decision</a:t>
            </a:r>
            <a:endParaRPr lang="en-US" sz="1100" dirty="0"/>
          </a:p>
        </p:txBody>
      </p:sp>
      <p:sp>
        <p:nvSpPr>
          <p:cNvPr id="19" name="Shape 14"/>
          <p:cNvSpPr/>
          <p:nvPr/>
        </p:nvSpPr>
        <p:spPr>
          <a:xfrm>
            <a:off x="640080" y="3877056"/>
            <a:ext cx="10881360" cy="649224"/>
          </a:xfrm>
          <a:prstGeom prst="roundRect">
            <a:avLst>
              <a:gd name="adj" fmla="val 11268"/>
            </a:avLst>
          </a:prstGeom>
          <a:solidFill>
            <a:srgbClr val="182238"/>
          </a:solidFill>
          <a:ln w="12700">
            <a:solidFill>
              <a:srgbClr val="223049"/>
            </a:solidFill>
            <a:prstDash val="solid"/>
          </a:ln>
        </p:spPr>
      </p:sp>
      <p:pic>
        <p:nvPicPr>
          <p:cNvPr id="20" name="Image 3" descr="C:\Users\Dell\AppData\Local\Temp\claude\C--Users-Dell-Documents-chakravyuh\a4ec3c1a-964e-4574-a792-caf74a383059\scratchpad\virgil_ppt\icons\checkcircl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4055364"/>
            <a:ext cx="292608" cy="292608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325880" y="3950208"/>
            <a:ext cx="3703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Pre-transaction decisioning</a:t>
            </a:r>
            <a:endParaRPr lang="en-US" sz="1200" dirty="0"/>
          </a:p>
        </p:txBody>
      </p:sp>
      <p:sp>
        <p:nvSpPr>
          <p:cNvPr id="22" name="Shape 16"/>
          <p:cNvSpPr/>
          <p:nvPr/>
        </p:nvSpPr>
        <p:spPr>
          <a:xfrm>
            <a:off x="5166360" y="3968496"/>
            <a:ext cx="0" cy="466344"/>
          </a:xfrm>
          <a:prstGeom prst="line">
            <a:avLst/>
          </a:prstGeom>
          <a:noFill/>
          <a:ln w="12700">
            <a:solidFill>
              <a:srgbClr val="223049"/>
            </a:solidFill>
            <a:prstDash val="solid"/>
          </a:ln>
        </p:spPr>
      </p:sp>
      <p:sp>
        <p:nvSpPr>
          <p:cNvPr id="23" name="Text 17"/>
          <p:cNvSpPr txBox="1"/>
          <p:nvPr/>
        </p:nvSpPr>
        <p:spPr>
          <a:xfrm>
            <a:off x="5394960" y="3950208"/>
            <a:ext cx="5943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Scoring API responds before the payment completes: approve / MFA / review / block</a:t>
            </a:r>
            <a:endParaRPr lang="en-US" sz="1100" dirty="0"/>
          </a:p>
        </p:txBody>
      </p:sp>
      <p:sp>
        <p:nvSpPr>
          <p:cNvPr id="24" name="Shape 18"/>
          <p:cNvSpPr/>
          <p:nvPr/>
        </p:nvSpPr>
        <p:spPr>
          <a:xfrm>
            <a:off x="640080" y="4636008"/>
            <a:ext cx="10881360" cy="649224"/>
          </a:xfrm>
          <a:prstGeom prst="roundRect">
            <a:avLst>
              <a:gd name="adj" fmla="val 11268"/>
            </a:avLst>
          </a:prstGeom>
          <a:solidFill>
            <a:srgbClr val="182238"/>
          </a:solidFill>
          <a:ln w="12700">
            <a:solidFill>
              <a:srgbClr val="223049"/>
            </a:solidFill>
            <a:prstDash val="solid"/>
          </a:ln>
        </p:spPr>
      </p:sp>
      <p:pic>
        <p:nvPicPr>
          <p:cNvPr id="25" name="Image 4" descr="C:\Users\Dell\AppData\Local\Temp\claude\C--Users-Dell-Documents-chakravyuh\a4ec3c1a-964e-4574-a792-caf74a383059\scratchpad\virgil_ppt\icons\checkcircl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4814316"/>
            <a:ext cx="292608" cy="292608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1325880" y="4709160"/>
            <a:ext cx="3703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Graph-based fraud ring detection</a:t>
            </a:r>
            <a:endParaRPr lang="en-US" sz="1200" dirty="0"/>
          </a:p>
        </p:txBody>
      </p:sp>
      <p:sp>
        <p:nvSpPr>
          <p:cNvPr id="27" name="Shape 20"/>
          <p:cNvSpPr/>
          <p:nvPr/>
        </p:nvSpPr>
        <p:spPr>
          <a:xfrm>
            <a:off x="5166360" y="4727448"/>
            <a:ext cx="0" cy="466344"/>
          </a:xfrm>
          <a:prstGeom prst="line">
            <a:avLst/>
          </a:prstGeom>
          <a:noFill/>
          <a:ln w="12700">
            <a:solidFill>
              <a:srgbClr val="223049"/>
            </a:solidFill>
            <a:prstDash val="solid"/>
          </a:ln>
        </p:spPr>
      </p:sp>
      <p:sp>
        <p:nvSpPr>
          <p:cNvPr id="28" name="Text 21"/>
          <p:cNvSpPr txBox="1"/>
          <p:nvPr/>
        </p:nvSpPr>
        <p:spPr>
          <a:xfrm>
            <a:off x="5394960" y="4709160"/>
            <a:ext cx="5943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NetworkX detects circular transfers and multi-hop layering patterns</a:t>
            </a:r>
            <a:endParaRPr lang="en-US" sz="1100" dirty="0"/>
          </a:p>
        </p:txBody>
      </p:sp>
      <p:sp>
        <p:nvSpPr>
          <p:cNvPr id="29" name="Shape 22"/>
          <p:cNvSpPr/>
          <p:nvPr/>
        </p:nvSpPr>
        <p:spPr>
          <a:xfrm>
            <a:off x="640080" y="5394960"/>
            <a:ext cx="10881360" cy="649224"/>
          </a:xfrm>
          <a:prstGeom prst="roundRect">
            <a:avLst>
              <a:gd name="adj" fmla="val 11268"/>
            </a:avLst>
          </a:prstGeom>
          <a:solidFill>
            <a:srgbClr val="182238"/>
          </a:solidFill>
          <a:ln w="12700">
            <a:solidFill>
              <a:srgbClr val="223049"/>
            </a:solidFill>
            <a:prstDash val="solid"/>
          </a:ln>
        </p:spPr>
      </p:sp>
      <p:pic>
        <p:nvPicPr>
          <p:cNvPr id="30" name="Image 5" descr="C:\Users\Dell\AppData\Local\Temp\claude\C--Users-Dell-Documents-chakravyuh\a4ec3c1a-964e-4574-a792-caf74a383059\scratchpad\virgil_ppt\icons\checkcircl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8680" y="5573268"/>
            <a:ext cx="292608" cy="292608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1325880" y="5468112"/>
            <a:ext cx="3703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Monitoring &amp; visualization</a:t>
            </a:r>
            <a:endParaRPr lang="en-US" sz="1200" dirty="0"/>
          </a:p>
        </p:txBody>
      </p:sp>
      <p:sp>
        <p:nvSpPr>
          <p:cNvPr id="32" name="Shape 24"/>
          <p:cNvSpPr/>
          <p:nvPr/>
        </p:nvSpPr>
        <p:spPr>
          <a:xfrm>
            <a:off x="5166360" y="5486400"/>
            <a:ext cx="0" cy="466344"/>
          </a:xfrm>
          <a:prstGeom prst="line">
            <a:avLst/>
          </a:prstGeom>
          <a:noFill/>
          <a:ln w="12700">
            <a:solidFill>
              <a:srgbClr val="223049"/>
            </a:solidFill>
            <a:prstDash val="solid"/>
          </a:ln>
        </p:spPr>
      </p:sp>
      <p:sp>
        <p:nvSpPr>
          <p:cNvPr id="33" name="Text 25"/>
          <p:cNvSpPr txBox="1"/>
          <p:nvPr/>
        </p:nvSpPr>
        <p:spPr>
          <a:xfrm>
            <a:off x="5394960" y="5468112"/>
            <a:ext cx="5943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console (alerts, cases, fund-flow graph) + executive KPI dashboard</a:t>
            </a:r>
            <a:endParaRPr lang="en-US" sz="1100" dirty="0"/>
          </a:p>
        </p:txBody>
      </p:sp>
      <p:sp>
        <p:nvSpPr>
          <p:cNvPr id="34" name="Text 26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THE FRAUD TEAM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4980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Console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41732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a bank’s fraud investigator needs to triage, investigate, and resolve flagged activity.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1965960"/>
            <a:ext cx="3502152" cy="2148840"/>
          </a:xfrm>
          <a:prstGeom prst="roundRect">
            <a:avLst>
              <a:gd name="adj" fmla="val 3404"/>
            </a:avLst>
          </a:prstGeom>
          <a:solidFill>
            <a:srgbClr val="141B2E"/>
          </a:solidFill>
          <a:ln w="12700">
            <a:solidFill>
              <a:srgbClr val="22304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68680" y="2194560"/>
            <a:ext cx="548640" cy="548640"/>
          </a:xfrm>
          <a:prstGeom prst="ellipse">
            <a:avLst/>
          </a:prstGeom>
          <a:solidFill>
            <a:srgbClr val="1D3B66"/>
          </a:solidFill>
          <a:ln/>
        </p:spPr>
      </p:sp>
      <p:pic>
        <p:nvPicPr>
          <p:cNvPr id="7" name="Image 0" descr="C:\Users\Dell\AppData\Local\Temp\claude\C--Users-Dell-Documents-chakravyuh\a4ec3c1a-964e-4574-a792-caf74a383059\scratchpad\virgil_ppt\icons\be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1326" y="2337206"/>
            <a:ext cx="263347" cy="263347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68680" y="2880360"/>
            <a:ext cx="3044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 Inbox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868680" y="3246120"/>
            <a:ext cx="30449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Risk-ranked alerts with severity, status, and search/filter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4325112" y="1965960"/>
            <a:ext cx="3502152" cy="2148840"/>
          </a:xfrm>
          <a:prstGeom prst="roundRect">
            <a:avLst>
              <a:gd name="adj" fmla="val 3404"/>
            </a:avLst>
          </a:prstGeom>
          <a:solidFill>
            <a:srgbClr val="141B2E"/>
          </a:solidFill>
          <a:ln w="12700">
            <a:solidFill>
              <a:srgbClr val="223049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553712" y="2194560"/>
            <a:ext cx="548640" cy="548640"/>
          </a:xfrm>
          <a:prstGeom prst="ellipse">
            <a:avLst/>
          </a:prstGeom>
          <a:solidFill>
            <a:srgbClr val="1D3B66"/>
          </a:solidFill>
          <a:ln/>
        </p:spPr>
      </p:sp>
      <p:pic>
        <p:nvPicPr>
          <p:cNvPr id="12" name="Image 1" descr="C:\Users\Dell\AppData\Local\Temp\claude\C--Users-Dell-Documents-chakravyuh\a4ec3c1a-964e-4574-a792-caf74a383059\scratchpad\virgil_ppt\icons\folderope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96358" y="2337206"/>
            <a:ext cx="263347" cy="263347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553712" y="2880360"/>
            <a:ext cx="3044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Investigation Cases</a:t>
            </a:r>
            <a:endParaRPr lang="en-US" sz="1300" dirty="0"/>
          </a:p>
        </p:txBody>
      </p:sp>
      <p:sp>
        <p:nvSpPr>
          <p:cNvPr id="14" name="Text 10"/>
          <p:cNvSpPr txBox="1"/>
          <p:nvPr/>
        </p:nvSpPr>
        <p:spPr>
          <a:xfrm>
            <a:off x="4553712" y="3246120"/>
            <a:ext cx="30449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Linked alerts, transactions, timeline, and evidence per case</a:t>
            </a:r>
            <a:endParaRPr lang="en-US" sz="1050" dirty="0"/>
          </a:p>
        </p:txBody>
      </p:sp>
      <p:sp>
        <p:nvSpPr>
          <p:cNvPr id="15" name="Shape 11"/>
          <p:cNvSpPr/>
          <p:nvPr/>
        </p:nvSpPr>
        <p:spPr>
          <a:xfrm>
            <a:off x="8010144" y="1965960"/>
            <a:ext cx="3502152" cy="2148840"/>
          </a:xfrm>
          <a:prstGeom prst="roundRect">
            <a:avLst>
              <a:gd name="adj" fmla="val 3404"/>
            </a:avLst>
          </a:prstGeom>
          <a:solidFill>
            <a:srgbClr val="141B2E"/>
          </a:solidFill>
          <a:ln w="12700">
            <a:solidFill>
              <a:srgbClr val="223049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8238744" y="2194560"/>
            <a:ext cx="548640" cy="548640"/>
          </a:xfrm>
          <a:prstGeom prst="ellipse">
            <a:avLst/>
          </a:prstGeom>
          <a:solidFill>
            <a:srgbClr val="1D3B66"/>
          </a:solidFill>
          <a:ln/>
        </p:spPr>
      </p:sp>
      <p:pic>
        <p:nvPicPr>
          <p:cNvPr id="17" name="Image 2" descr="C:\Users\Dell\AppData\Local\Temp\claude\C--Users-Dell-Documents-chakravyuh\a4ec3c1a-964e-4574-a792-caf74a383059\scratchpad\virgil_ppt\icons\networ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1390" y="2337206"/>
            <a:ext cx="263347" cy="263347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238744" y="2880360"/>
            <a:ext cx="3044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Fund-Flow Graph</a:t>
            </a:r>
            <a:endParaRPr lang="en-US" sz="1300" dirty="0"/>
          </a:p>
        </p:txBody>
      </p:sp>
      <p:sp>
        <p:nvSpPr>
          <p:cNvPr id="19" name="Text 14"/>
          <p:cNvSpPr txBox="1"/>
          <p:nvPr/>
        </p:nvSpPr>
        <p:spPr>
          <a:xfrm>
            <a:off x="8238744" y="3246120"/>
            <a:ext cx="30449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 graph of the money’s actual path between accounts</a:t>
            </a:r>
            <a:endParaRPr lang="en-US" sz="1050" dirty="0"/>
          </a:p>
        </p:txBody>
      </p:sp>
      <p:sp>
        <p:nvSpPr>
          <p:cNvPr id="20" name="Shape 15"/>
          <p:cNvSpPr/>
          <p:nvPr/>
        </p:nvSpPr>
        <p:spPr>
          <a:xfrm>
            <a:off x="640080" y="4297680"/>
            <a:ext cx="3502152" cy="2148840"/>
          </a:xfrm>
          <a:prstGeom prst="roundRect">
            <a:avLst>
              <a:gd name="adj" fmla="val 3404"/>
            </a:avLst>
          </a:prstGeom>
          <a:solidFill>
            <a:srgbClr val="141B2E"/>
          </a:solidFill>
          <a:ln w="12700">
            <a:solidFill>
              <a:srgbClr val="223049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868680" y="4526280"/>
            <a:ext cx="548640" cy="548640"/>
          </a:xfrm>
          <a:prstGeom prst="ellipse">
            <a:avLst/>
          </a:prstGeom>
          <a:solidFill>
            <a:srgbClr val="1D3B66"/>
          </a:solidFill>
          <a:ln/>
        </p:spPr>
      </p:sp>
      <p:pic>
        <p:nvPicPr>
          <p:cNvPr id="22" name="Image 3" descr="C:\Users\Dell\AppData\Local\Temp\claude\C--Users-Dell-Documents-chakravyuh\a4ec3c1a-964e-4574-a792-caf74a383059\scratchpad\virgil_ppt\icons\ey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4668926"/>
            <a:ext cx="263347" cy="263347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868680" y="5212080"/>
            <a:ext cx="3044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Review Queue</a:t>
            </a:r>
            <a:endParaRPr lang="en-US" sz="1300" dirty="0"/>
          </a:p>
        </p:txBody>
      </p:sp>
      <p:sp>
        <p:nvSpPr>
          <p:cNvPr id="24" name="Text 18"/>
          <p:cNvSpPr txBox="1"/>
          <p:nvPr/>
        </p:nvSpPr>
        <p:spPr>
          <a:xfrm>
            <a:off x="868680" y="5577840"/>
            <a:ext cx="30449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Transactions held in the 60–79 band, with a fast rule-based suggestion</a:t>
            </a:r>
            <a:endParaRPr lang="en-US" sz="1050" dirty="0"/>
          </a:p>
        </p:txBody>
      </p:sp>
      <p:sp>
        <p:nvSpPr>
          <p:cNvPr id="25" name="Shape 19"/>
          <p:cNvSpPr/>
          <p:nvPr/>
        </p:nvSpPr>
        <p:spPr>
          <a:xfrm>
            <a:off x="4325112" y="4297680"/>
            <a:ext cx="3502152" cy="2148840"/>
          </a:xfrm>
          <a:prstGeom prst="roundRect">
            <a:avLst>
              <a:gd name="adj" fmla="val 3404"/>
            </a:avLst>
          </a:prstGeom>
          <a:solidFill>
            <a:srgbClr val="141B2E"/>
          </a:solidFill>
          <a:ln w="12700">
            <a:solidFill>
              <a:srgbClr val="223049"/>
            </a:solidFill>
            <a:prstDash val="solid"/>
          </a:ln>
        </p:spPr>
      </p:sp>
      <p:sp>
        <p:nvSpPr>
          <p:cNvPr id="26" name="Shape 20"/>
          <p:cNvSpPr/>
          <p:nvPr/>
        </p:nvSpPr>
        <p:spPr>
          <a:xfrm>
            <a:off x="4553712" y="4526280"/>
            <a:ext cx="548640" cy="548640"/>
          </a:xfrm>
          <a:prstGeom prst="ellipse">
            <a:avLst/>
          </a:prstGeom>
          <a:solidFill>
            <a:srgbClr val="1D3B66"/>
          </a:solidFill>
          <a:ln/>
        </p:spPr>
      </p:sp>
      <p:pic>
        <p:nvPicPr>
          <p:cNvPr id="27" name="Image 4" descr="C:\Users\Dell\AppData\Local\Temp\claude\C--Users-Dell-Documents-chakravyuh\a4ec3c1a-964e-4574-a792-caf74a383059\scratchpad\virgil_ppt\icons\linechart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96358" y="4668926"/>
            <a:ext cx="263347" cy="263347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4553712" y="5212080"/>
            <a:ext cx="3044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Pre-Txn Analytics</a:t>
            </a:r>
            <a:endParaRPr lang="en-US" sz="1300" dirty="0"/>
          </a:p>
        </p:txBody>
      </p:sp>
      <p:sp>
        <p:nvSpPr>
          <p:cNvPr id="29" name="Text 22"/>
          <p:cNvSpPr txBox="1"/>
          <p:nvPr/>
        </p:nvSpPr>
        <p:spPr>
          <a:xfrm>
            <a:off x="4553712" y="5577840"/>
            <a:ext cx="30449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Live-updating feed of every transaction being scored right now</a:t>
            </a:r>
            <a:endParaRPr lang="en-US" sz="1050" dirty="0"/>
          </a:p>
        </p:txBody>
      </p:sp>
      <p:sp>
        <p:nvSpPr>
          <p:cNvPr id="30" name="Shape 23"/>
          <p:cNvSpPr/>
          <p:nvPr/>
        </p:nvSpPr>
        <p:spPr>
          <a:xfrm>
            <a:off x="8010144" y="4297680"/>
            <a:ext cx="3502152" cy="2148840"/>
          </a:xfrm>
          <a:prstGeom prst="roundRect">
            <a:avLst>
              <a:gd name="adj" fmla="val 3404"/>
            </a:avLst>
          </a:prstGeom>
          <a:solidFill>
            <a:srgbClr val="141B2E"/>
          </a:solidFill>
          <a:ln w="12700">
            <a:solidFill>
              <a:srgbClr val="223049"/>
            </a:solidFill>
            <a:prstDash val="solid"/>
          </a:ln>
        </p:spPr>
      </p:sp>
      <p:sp>
        <p:nvSpPr>
          <p:cNvPr id="31" name="Shape 24"/>
          <p:cNvSpPr/>
          <p:nvPr/>
        </p:nvSpPr>
        <p:spPr>
          <a:xfrm>
            <a:off x="8238744" y="4526280"/>
            <a:ext cx="548640" cy="548640"/>
          </a:xfrm>
          <a:prstGeom prst="ellipse">
            <a:avLst/>
          </a:prstGeom>
          <a:solidFill>
            <a:srgbClr val="1D3B66"/>
          </a:solidFill>
          <a:ln/>
        </p:spPr>
      </p:sp>
      <p:pic>
        <p:nvPicPr>
          <p:cNvPr id="32" name="Image 5" descr="C:\Users\Dell\AppData\Local\Temp\claude\C--Users-Dell-Documents-chakravyuh\a4ec3c1a-964e-4574-a792-caf74a383059\scratchpad\virgil_ppt\icons\zap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81390" y="4668926"/>
            <a:ext cx="263347" cy="263347"/>
          </a:xfrm>
          <a:prstGeom prst="rect">
            <a:avLst/>
          </a:prstGeom>
        </p:spPr>
      </p:pic>
      <p:sp>
        <p:nvSpPr>
          <p:cNvPr id="33" name="Text 25"/>
          <p:cNvSpPr txBox="1"/>
          <p:nvPr/>
        </p:nvSpPr>
        <p:spPr>
          <a:xfrm>
            <a:off x="8238744" y="5212080"/>
            <a:ext cx="3044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Transaction Scorer</a:t>
            </a:r>
            <a:endParaRPr lang="en-US" sz="1300" dirty="0"/>
          </a:p>
        </p:txBody>
      </p:sp>
      <p:sp>
        <p:nvSpPr>
          <p:cNvPr id="34" name="Text 26"/>
          <p:cNvSpPr txBox="1"/>
          <p:nvPr/>
        </p:nvSpPr>
        <p:spPr>
          <a:xfrm>
            <a:off x="8238744" y="5577840"/>
            <a:ext cx="30449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any account / amount combo and see the real score instantly</a:t>
            </a:r>
            <a:endParaRPr lang="en-US" sz="1050" dirty="0"/>
          </a:p>
        </p:txBody>
      </p:sp>
      <p:sp>
        <p:nvSpPr>
          <p:cNvPr id="35" name="Text 27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LEADERSHIP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4980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Dashboard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41732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Board-level visibility into fraud exposure, regulatory posture, and model health — no transaction-level detail required.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1965960"/>
            <a:ext cx="2606040" cy="1371600"/>
          </a:xfrm>
          <a:prstGeom prst="roundRect">
            <a:avLst>
              <a:gd name="adj" fmla="val 5333"/>
            </a:avLst>
          </a:prstGeom>
          <a:solidFill>
            <a:srgbClr val="182238"/>
          </a:solidFill>
          <a:ln w="12700">
            <a:solidFill>
              <a:srgbClr val="223049"/>
            </a:solidFill>
            <a:prstDash val="solid"/>
          </a:ln>
        </p:spPr>
      </p:sp>
      <p:pic>
        <p:nvPicPr>
          <p:cNvPr id="6" name="Image 0" descr="C:\Users\Dell\AppData\Local\Temp\claude\C--Users-Dell-Documents-chakravyuh\a4ec3c1a-964e-4574-a792-caf74a383059\scratchpad\virgil_ppt\icons\rupe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1248" y="2167128"/>
            <a:ext cx="365760" cy="36576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22960" y="251460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₹8.99 Cr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990088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Fraud Detected YTD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3447288" y="1965960"/>
            <a:ext cx="2606040" cy="1371600"/>
          </a:xfrm>
          <a:prstGeom prst="roundRect">
            <a:avLst>
              <a:gd name="adj" fmla="val 5333"/>
            </a:avLst>
          </a:prstGeom>
          <a:solidFill>
            <a:srgbClr val="182238"/>
          </a:solidFill>
          <a:ln w="12700">
            <a:solidFill>
              <a:srgbClr val="223049"/>
            </a:solidFill>
            <a:prstDash val="solid"/>
          </a:ln>
        </p:spPr>
      </p:sp>
      <p:pic>
        <p:nvPicPr>
          <p:cNvPr id="10" name="Image 1" descr="C:\Users\Dell\AppData\Local\Temp\claude\C--Users-Dell-Documents-chakravyuh\a4ec3c1a-964e-4574-a792-caf74a383059\scratchpad\virgil_ppt\icons\shiel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48456" y="2167128"/>
            <a:ext cx="365760" cy="36576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630168" y="251460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₹11.78 Cr</a:t>
            </a:r>
            <a:endParaRPr lang="en-US" sz="2200" dirty="0"/>
          </a:p>
        </p:txBody>
      </p:sp>
      <p:sp>
        <p:nvSpPr>
          <p:cNvPr id="12" name="Text 8"/>
          <p:cNvSpPr txBox="1"/>
          <p:nvPr/>
        </p:nvSpPr>
        <p:spPr>
          <a:xfrm>
            <a:off x="3630168" y="2990088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Fraud Prevented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254496" y="1965960"/>
            <a:ext cx="2606040" cy="1371600"/>
          </a:xfrm>
          <a:prstGeom prst="roundRect">
            <a:avLst>
              <a:gd name="adj" fmla="val 5333"/>
            </a:avLst>
          </a:prstGeom>
          <a:solidFill>
            <a:srgbClr val="182238"/>
          </a:solidFill>
          <a:ln w="12700">
            <a:solidFill>
              <a:srgbClr val="223049"/>
            </a:solidFill>
            <a:prstDash val="solid"/>
          </a:ln>
        </p:spPr>
      </p:sp>
      <p:pic>
        <p:nvPicPr>
          <p:cNvPr id="14" name="Image 2" descr="C:\Users\Dell\AppData\Local\Temp\claude\C--Users-Dell-Documents-chakravyuh\a4ec3c1a-964e-4574-a792-caf74a383059\scratchpad\virgil_ppt\icons\gaug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55664" y="2167128"/>
            <a:ext cx="365760" cy="36576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6437376" y="251460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91.8%</a:t>
            </a:r>
            <a:endParaRPr lang="en-US" sz="2200" dirty="0"/>
          </a:p>
        </p:txBody>
      </p:sp>
      <p:sp>
        <p:nvSpPr>
          <p:cNvPr id="16" name="Text 11"/>
          <p:cNvSpPr txBox="1"/>
          <p:nvPr/>
        </p:nvSpPr>
        <p:spPr>
          <a:xfrm>
            <a:off x="6437376" y="2990088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Detection Rate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9061704" y="1965960"/>
            <a:ext cx="2606040" cy="1371600"/>
          </a:xfrm>
          <a:prstGeom prst="roundRect">
            <a:avLst>
              <a:gd name="adj" fmla="val 5333"/>
            </a:avLst>
          </a:prstGeom>
          <a:solidFill>
            <a:srgbClr val="182238"/>
          </a:solidFill>
          <a:ln w="12700">
            <a:solidFill>
              <a:srgbClr val="223049"/>
            </a:solidFill>
            <a:prstDash val="solid"/>
          </a:ln>
        </p:spPr>
      </p:sp>
      <p:pic>
        <p:nvPicPr>
          <p:cNvPr id="18" name="Image 3" descr="C:\Users\Dell\AppData\Local\Temp\claude\C--Users-Dell-Documents-chakravyuh\a4ec3c1a-964e-4574-a792-caf74a383059\scratchpad\virgil_ppt\icons\folderope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62872" y="2167128"/>
            <a:ext cx="365760" cy="36576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9244584" y="251460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200" dirty="0"/>
          </a:p>
        </p:txBody>
      </p:sp>
      <p:sp>
        <p:nvSpPr>
          <p:cNvPr id="20" name="Text 14"/>
          <p:cNvSpPr txBox="1"/>
          <p:nvPr/>
        </p:nvSpPr>
        <p:spPr>
          <a:xfrm>
            <a:off x="9244584" y="2990088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Cases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640080" y="3611880"/>
            <a:ext cx="3502152" cy="2331720"/>
          </a:xfrm>
          <a:prstGeom prst="roundRect">
            <a:avLst>
              <a:gd name="adj" fmla="val 3137"/>
            </a:avLst>
          </a:prstGeom>
          <a:solidFill>
            <a:srgbClr val="141B2E"/>
          </a:solidFill>
          <a:ln w="12700">
            <a:solidFill>
              <a:srgbClr val="223049"/>
            </a:solidFill>
            <a:prstDash val="solid"/>
          </a:ln>
        </p:spPr>
      </p:sp>
      <p:sp>
        <p:nvSpPr>
          <p:cNvPr id="22" name="Shape 16"/>
          <p:cNvSpPr/>
          <p:nvPr/>
        </p:nvSpPr>
        <p:spPr>
          <a:xfrm>
            <a:off x="868680" y="3840480"/>
            <a:ext cx="548640" cy="548640"/>
          </a:xfrm>
          <a:prstGeom prst="ellipse">
            <a:avLst/>
          </a:prstGeom>
          <a:solidFill>
            <a:srgbClr val="1D3B66"/>
          </a:solidFill>
          <a:ln/>
        </p:spPr>
      </p:sp>
      <p:pic>
        <p:nvPicPr>
          <p:cNvPr id="23" name="Image 4" descr="C:\Users\Dell\AppData\Local\Temp\claude\C--Users-Dell-Documents-chakravyuh\a4ec3c1a-964e-4574-a792-caf74a383059\scratchpad\virgil_ppt\icons\linechart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1326" y="3983126"/>
            <a:ext cx="263347" cy="263347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868680" y="4526280"/>
            <a:ext cx="30449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Fraud Intelligence Trend</a:t>
            </a:r>
            <a:endParaRPr lang="en-US" sz="1300" dirty="0"/>
          </a:p>
        </p:txBody>
      </p:sp>
      <p:sp>
        <p:nvSpPr>
          <p:cNvPr id="25" name="Text 18"/>
          <p:cNvSpPr txBox="1"/>
          <p:nvPr/>
        </p:nvSpPr>
        <p:spPr>
          <a:xfrm>
            <a:off x="868680" y="5074920"/>
            <a:ext cx="30449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detected vs. prevented, side by side</a:t>
            </a:r>
            <a:endParaRPr lang="en-US" sz="1050" dirty="0"/>
          </a:p>
        </p:txBody>
      </p:sp>
      <p:sp>
        <p:nvSpPr>
          <p:cNvPr id="26" name="Shape 19"/>
          <p:cNvSpPr/>
          <p:nvPr/>
        </p:nvSpPr>
        <p:spPr>
          <a:xfrm>
            <a:off x="4325112" y="3611880"/>
            <a:ext cx="3502152" cy="2331720"/>
          </a:xfrm>
          <a:prstGeom prst="roundRect">
            <a:avLst>
              <a:gd name="adj" fmla="val 3137"/>
            </a:avLst>
          </a:prstGeom>
          <a:solidFill>
            <a:srgbClr val="141B2E"/>
          </a:solidFill>
          <a:ln w="12700">
            <a:solidFill>
              <a:srgbClr val="223049"/>
            </a:solidFill>
            <a:prstDash val="solid"/>
          </a:ln>
        </p:spPr>
      </p:sp>
      <p:sp>
        <p:nvSpPr>
          <p:cNvPr id="27" name="Shape 20"/>
          <p:cNvSpPr/>
          <p:nvPr/>
        </p:nvSpPr>
        <p:spPr>
          <a:xfrm>
            <a:off x="4553712" y="3840480"/>
            <a:ext cx="548640" cy="548640"/>
          </a:xfrm>
          <a:prstGeom prst="ellipse">
            <a:avLst/>
          </a:prstGeom>
          <a:solidFill>
            <a:srgbClr val="1D3B66"/>
          </a:solidFill>
          <a:ln/>
        </p:spPr>
      </p:sp>
      <p:pic>
        <p:nvPicPr>
          <p:cNvPr id="28" name="Image 5" descr="C:\Users\Dell\AppData\Local\Temp\claude\C--Users-Dell-Documents-chakravyuh\a4ec3c1a-964e-4574-a792-caf74a383059\scratchpad\virgil_ppt\icons\scal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96358" y="3983126"/>
            <a:ext cx="263347" cy="263347"/>
          </a:xfrm>
          <a:prstGeom prst="rect">
            <a:avLst/>
          </a:prstGeom>
        </p:spPr>
      </p:pic>
      <p:sp>
        <p:nvSpPr>
          <p:cNvPr id="29" name="Text 21"/>
          <p:cNvSpPr txBox="1"/>
          <p:nvPr/>
        </p:nvSpPr>
        <p:spPr>
          <a:xfrm>
            <a:off x="4553712" y="4526280"/>
            <a:ext cx="30449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&amp; STR/CTR</a:t>
            </a:r>
            <a:endParaRPr lang="en-US" sz="1300" dirty="0"/>
          </a:p>
        </p:txBody>
      </p:sp>
      <p:sp>
        <p:nvSpPr>
          <p:cNvPr id="30" name="Text 22"/>
          <p:cNvSpPr txBox="1"/>
          <p:nvPr/>
        </p:nvSpPr>
        <p:spPr>
          <a:xfrm>
            <a:off x="4553712" y="5074920"/>
            <a:ext cx="30449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 filing status, PMLA 2002 obligations, audit score</a:t>
            </a:r>
            <a:endParaRPr lang="en-US" sz="1050" dirty="0"/>
          </a:p>
        </p:txBody>
      </p:sp>
      <p:sp>
        <p:nvSpPr>
          <p:cNvPr id="31" name="Shape 23"/>
          <p:cNvSpPr/>
          <p:nvPr/>
        </p:nvSpPr>
        <p:spPr>
          <a:xfrm>
            <a:off x="8010144" y="3611880"/>
            <a:ext cx="3502152" cy="2331720"/>
          </a:xfrm>
          <a:prstGeom prst="roundRect">
            <a:avLst>
              <a:gd name="adj" fmla="val 3137"/>
            </a:avLst>
          </a:prstGeom>
          <a:solidFill>
            <a:srgbClr val="141B2E"/>
          </a:solidFill>
          <a:ln w="12700">
            <a:solidFill>
              <a:srgbClr val="223049"/>
            </a:solidFill>
            <a:prstDash val="solid"/>
          </a:ln>
        </p:spPr>
      </p:sp>
      <p:sp>
        <p:nvSpPr>
          <p:cNvPr id="32" name="Shape 24"/>
          <p:cNvSpPr/>
          <p:nvPr/>
        </p:nvSpPr>
        <p:spPr>
          <a:xfrm>
            <a:off x="8238744" y="3840480"/>
            <a:ext cx="548640" cy="548640"/>
          </a:xfrm>
          <a:prstGeom prst="ellipse">
            <a:avLst/>
          </a:prstGeom>
          <a:solidFill>
            <a:srgbClr val="1D3B66"/>
          </a:solidFill>
          <a:ln/>
        </p:spPr>
      </p:sp>
      <p:pic>
        <p:nvPicPr>
          <p:cNvPr id="33" name="Image 6" descr="C:\Users\Dell\AppData\Local\Temp\claude\C--Users-Dell-Documents-chakravyuh\a4ec3c1a-964e-4574-a792-caf74a383059\scratchpad\virgil_ppt\icons\gauge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81390" y="3983126"/>
            <a:ext cx="263347" cy="263347"/>
          </a:xfrm>
          <a:prstGeom prst="rect">
            <a:avLst/>
          </a:prstGeom>
        </p:spPr>
      </p:pic>
      <p:sp>
        <p:nvSpPr>
          <p:cNvPr id="34" name="Text 25"/>
          <p:cNvSpPr txBox="1"/>
          <p:nvPr/>
        </p:nvSpPr>
        <p:spPr>
          <a:xfrm>
            <a:off x="8238744" y="4526280"/>
            <a:ext cx="30449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Health</a:t>
            </a:r>
            <a:endParaRPr lang="en-US" sz="1300" dirty="0"/>
          </a:p>
        </p:txBody>
      </p:sp>
      <p:sp>
        <p:nvSpPr>
          <p:cNvPr id="35" name="Text 26"/>
          <p:cNvSpPr txBox="1"/>
          <p:nvPr/>
        </p:nvSpPr>
        <p:spPr>
          <a:xfrm>
            <a:off x="8238744" y="5074920"/>
            <a:ext cx="30449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Precision, recall, F1, and live data-drift monitoring</a:t>
            </a:r>
            <a:endParaRPr lang="en-US" sz="1050" dirty="0"/>
          </a:p>
        </p:txBody>
      </p:sp>
      <p:sp>
        <p:nvSpPr>
          <p:cNvPr id="36" name="Text 27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DELIBERATE CHOICE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4980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Rules, Not a Black Box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5257800" cy="4343400"/>
          </a:xfrm>
          <a:prstGeom prst="roundRect">
            <a:avLst>
              <a:gd name="adj" fmla="val 1684"/>
            </a:avLst>
          </a:prstGeom>
          <a:solidFill>
            <a:srgbClr val="182238"/>
          </a:solidFill>
          <a:ln w="12700">
            <a:solidFill>
              <a:srgbClr val="22304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196596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math makes the decision.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2514600"/>
            <a:ext cx="4709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point on the 0–100 score is traceable to one of five explicit signals. A regulator, an analyst, or a customer can always be told exactly why a transaction was blocked — not "the model said so."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388620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</a:t>
            </a:r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Fully auditable — required for regulated banking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438912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</a:t>
            </a:r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training data needed to get started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914400" y="48920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</a:t>
            </a:r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to hallucinate, nothing to drift silently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914400" y="539496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</a:t>
            </a:r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reason code maps to a real, testable formula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263640" y="1691640"/>
            <a:ext cx="5257800" cy="4343400"/>
          </a:xfrm>
          <a:prstGeom prst="roundRect">
            <a:avLst>
              <a:gd name="adj" fmla="val 1684"/>
            </a:avLst>
          </a:prstGeom>
          <a:solidFill>
            <a:srgbClr val="182238"/>
          </a:solidFill>
          <a:ln w="12700">
            <a:solidFill>
              <a:srgbClr val="22304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537960" y="1965960"/>
            <a:ext cx="548640" cy="548640"/>
          </a:xfrm>
          <a:prstGeom prst="ellipse">
            <a:avLst/>
          </a:prstGeom>
          <a:solidFill>
            <a:srgbClr val="1D3B66"/>
          </a:solidFill>
          <a:ln/>
        </p:spPr>
      </p:sp>
      <p:pic>
        <p:nvPicPr>
          <p:cNvPr id="13" name="Image 0" descr="C:\Users\Dell\AppData\Local\Temp\claude\C--Users-Dell-Documents-chakravyuh\a4ec3c1a-964e-4574-a792-caf74a383059\scratchpad\virgil_ppt\icons\sparkl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80606" y="2108606"/>
            <a:ext cx="263347" cy="263347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7223760" y="2029968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AI layer exists — it’s just off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6537960" y="2697480"/>
            <a:ext cx="4709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GPT-4o mini is fully wired in to write plain-English alert explanations, case summaries, and FIU report narratives. It never influences the score — only explains a decision the math already made.</a:t>
            </a:r>
            <a:endParaRPr lang="en-US" sz="1150" dirty="0"/>
          </a:p>
        </p:txBody>
      </p:sp>
      <p:sp>
        <p:nvSpPr>
          <p:cNvPr id="16" name="Text 13"/>
          <p:cNvSpPr txBox="1"/>
          <p:nvPr/>
        </p:nvSpPr>
        <p:spPr>
          <a:xfrm>
            <a:off x="6537960" y="3886200"/>
            <a:ext cx="4709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this review, no API key is configured — every AI-touching feature gracefully falls back to deterministic template text instead. Same UI, same buttons, zero API cost, nothing to fail.</a:t>
            </a:r>
            <a:endParaRPr lang="en-US" sz="1150" dirty="0"/>
          </a:p>
        </p:txBody>
      </p:sp>
      <p:sp>
        <p:nvSpPr>
          <p:cNvPr id="17" name="Text 1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COMING UP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4980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We’ll Show You Live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2606040" cy="2743200"/>
          </a:xfrm>
          <a:prstGeom prst="roundRect">
            <a:avLst>
              <a:gd name="adj" fmla="val 2807"/>
            </a:avLst>
          </a:prstGeom>
          <a:solidFill>
            <a:srgbClr val="182238"/>
          </a:solidFill>
          <a:ln w="12700">
            <a:solidFill>
              <a:srgbClr val="22304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13916" y="2103120"/>
            <a:ext cx="658368" cy="658368"/>
          </a:xfrm>
          <a:prstGeom prst="ellipse">
            <a:avLst/>
          </a:prstGeom>
          <a:solidFill>
            <a:srgbClr val="22C55E"/>
          </a:solidFill>
          <a:ln/>
        </p:spPr>
      </p:sp>
      <p:pic>
        <p:nvPicPr>
          <p:cNvPr id="6" name="Image 0" descr="C:\Users\Dell\AppData\Local\Temp\claude\C--Users-Dell-Documents-chakravyuh\a4ec3c1a-964e-4574-a792-caf74a383059\scratchpad\virgil_ppt\icons\checkcirc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85092" y="2274296"/>
            <a:ext cx="316017" cy="31601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40080" y="292608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3337560"/>
            <a:ext cx="22402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normal, small payment — goes through instantly, score under 30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3447288" y="1828800"/>
            <a:ext cx="2606040" cy="2743200"/>
          </a:xfrm>
          <a:prstGeom prst="roundRect">
            <a:avLst>
              <a:gd name="adj" fmla="val 2807"/>
            </a:avLst>
          </a:prstGeom>
          <a:solidFill>
            <a:srgbClr val="182238"/>
          </a:solidFill>
          <a:ln w="12700">
            <a:solidFill>
              <a:srgbClr val="223049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421124" y="2103120"/>
            <a:ext cx="658368" cy="658368"/>
          </a:xfrm>
          <a:prstGeom prst="ellipse">
            <a:avLst/>
          </a:prstGeom>
          <a:solidFill>
            <a:srgbClr val="F59E0B"/>
          </a:solidFill>
          <a:ln/>
        </p:spPr>
      </p:sp>
      <p:pic>
        <p:nvPicPr>
          <p:cNvPr id="11" name="Image 1" descr="C:\Users\Dell\AppData\Local\Temp\claude\C--Users-Dell-Documents-chakravyuh\a4ec3c1a-964e-4574-a792-caf74a383059\scratchpad\virgil_ppt\icons\lo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2300" y="2274296"/>
            <a:ext cx="316017" cy="316017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3447288" y="292608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MFA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3630168" y="3337560"/>
            <a:ext cx="22402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moderately unusual payment — triggers biometric step-up verification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6254496" y="1828800"/>
            <a:ext cx="2606040" cy="2743200"/>
          </a:xfrm>
          <a:prstGeom prst="roundRect">
            <a:avLst>
              <a:gd name="adj" fmla="val 2807"/>
            </a:avLst>
          </a:prstGeom>
          <a:solidFill>
            <a:srgbClr val="182238"/>
          </a:solidFill>
          <a:ln w="12700">
            <a:solidFill>
              <a:srgbClr val="223049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7228332" y="2103120"/>
            <a:ext cx="658368" cy="658368"/>
          </a:xfrm>
          <a:prstGeom prst="ellipse">
            <a:avLst/>
          </a:prstGeom>
          <a:solidFill>
            <a:srgbClr val="FB923C"/>
          </a:solidFill>
          <a:ln/>
        </p:spPr>
      </p:sp>
      <p:pic>
        <p:nvPicPr>
          <p:cNvPr id="16" name="Image 2" descr="C:\Users\Dell\AppData\Local\Temp\claude\C--Users-Dell-Documents-chakravyuh\a4ec3c1a-964e-4574-a792-caf74a383059\scratchpad\virgil_ppt\icons\ey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99508" y="2274296"/>
            <a:ext cx="316017" cy="316017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6254496" y="292608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B9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Review</a:t>
            </a:r>
            <a:endParaRPr lang="en-US" sz="1500" dirty="0"/>
          </a:p>
        </p:txBody>
      </p:sp>
      <p:sp>
        <p:nvSpPr>
          <p:cNvPr id="18" name="Text 13"/>
          <p:cNvSpPr txBox="1"/>
          <p:nvPr/>
        </p:nvSpPr>
        <p:spPr>
          <a:xfrm>
            <a:off x="6437376" y="3337560"/>
            <a:ext cx="22402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payment to a flagged, first-time payee — held for analyst review</a:t>
            </a:r>
            <a:endParaRPr lang="en-US" sz="1050" dirty="0"/>
          </a:p>
        </p:txBody>
      </p:sp>
      <p:sp>
        <p:nvSpPr>
          <p:cNvPr id="19" name="Shape 14"/>
          <p:cNvSpPr/>
          <p:nvPr/>
        </p:nvSpPr>
        <p:spPr>
          <a:xfrm>
            <a:off x="9061704" y="1828800"/>
            <a:ext cx="2606040" cy="2743200"/>
          </a:xfrm>
          <a:prstGeom prst="roundRect">
            <a:avLst>
              <a:gd name="adj" fmla="val 2807"/>
            </a:avLst>
          </a:prstGeom>
          <a:solidFill>
            <a:srgbClr val="182238"/>
          </a:solidFill>
          <a:ln w="12700">
            <a:solidFill>
              <a:srgbClr val="223049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10035540" y="2103120"/>
            <a:ext cx="658368" cy="658368"/>
          </a:xfrm>
          <a:prstGeom prst="ellipse">
            <a:avLst/>
          </a:prstGeom>
          <a:solidFill>
            <a:srgbClr val="EF4444"/>
          </a:solidFill>
          <a:ln/>
        </p:spPr>
      </p:sp>
      <p:pic>
        <p:nvPicPr>
          <p:cNvPr id="21" name="Image 3" descr="C:\Users\Dell\AppData\Local\Temp\claude\C--Users-Dell-Documents-chakravyuh\a4ec3c1a-964e-4574-a792-caf74a383059\scratchpad\virgil_ppt\icons\xcircl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06716" y="2274296"/>
            <a:ext cx="316017" cy="316017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9061704" y="292608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</a:t>
            </a:r>
            <a:endParaRPr lang="en-US" sz="1500" dirty="0"/>
          </a:p>
        </p:txBody>
      </p:sp>
      <p:sp>
        <p:nvSpPr>
          <p:cNvPr id="23" name="Text 17"/>
          <p:cNvSpPr txBox="1"/>
          <p:nvPr/>
        </p:nvSpPr>
        <p:spPr>
          <a:xfrm>
            <a:off x="9244584" y="3337560"/>
            <a:ext cx="22402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high-risk payment from an unrecognized device — declined outright</a:t>
            </a:r>
            <a:endParaRPr lang="en-US" sz="1050" dirty="0"/>
          </a:p>
        </p:txBody>
      </p:sp>
      <p:sp>
        <p:nvSpPr>
          <p:cNvPr id="24" name="Shape 18"/>
          <p:cNvSpPr/>
          <p:nvPr/>
        </p:nvSpPr>
        <p:spPr>
          <a:xfrm>
            <a:off x="640080" y="4846320"/>
            <a:ext cx="10881360" cy="1188720"/>
          </a:xfrm>
          <a:prstGeom prst="roundRect">
            <a:avLst>
              <a:gd name="adj" fmla="val 6154"/>
            </a:avLst>
          </a:prstGeom>
          <a:solidFill>
            <a:srgbClr val="182238"/>
          </a:solidFill>
          <a:ln w="12700">
            <a:solidFill>
              <a:srgbClr val="223049"/>
            </a:solidFill>
            <a:prstDash val="solid"/>
          </a:ln>
        </p:spPr>
      </p:sp>
      <p:pic>
        <p:nvPicPr>
          <p:cNvPr id="25" name="Image 4" descr="C:\Users\Dell\AppData\Local\Temp\claude\C--Users-Dell-Documents-chakravyuh\a4ec3c1a-964e-4574-a792-caf74a383059\scratchpad\virgil_ppt\icons\layoutdashboar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0" y="5120640"/>
            <a:ext cx="502920" cy="502920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1600200" y="5120640"/>
            <a:ext cx="9692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we’ll walk through the Analyst Console and Executive Dashboard the same transaction feeds into.</a:t>
            </a:r>
            <a:endParaRPr lang="en-US" sz="1300" dirty="0"/>
          </a:p>
        </p:txBody>
      </p:sp>
      <p:sp>
        <p:nvSpPr>
          <p:cNvPr id="27" name="Text 20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WHAT’S NEXT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4980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Scope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3502152" cy="2148840"/>
          </a:xfrm>
          <a:prstGeom prst="roundRect">
            <a:avLst>
              <a:gd name="adj" fmla="val 3404"/>
            </a:avLst>
          </a:prstGeom>
          <a:solidFill>
            <a:srgbClr val="141B2E"/>
          </a:solidFill>
          <a:ln w="12700">
            <a:solidFill>
              <a:srgbClr val="22304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8680" y="1920240"/>
            <a:ext cx="548640" cy="548640"/>
          </a:xfrm>
          <a:prstGeom prst="ellipse">
            <a:avLst/>
          </a:prstGeom>
          <a:solidFill>
            <a:srgbClr val="1D3B66"/>
          </a:solidFill>
          <a:ln/>
        </p:spPr>
      </p:sp>
      <p:pic>
        <p:nvPicPr>
          <p:cNvPr id="6" name="Image 0" descr="C:\Users\Dell\AppData\Local\Temp\claude\C--Users-Dell-Documents-chakravyuh\a4ec3c1a-964e-4574-a792-caf74a383059\scratchpad\virgil_ppt\icons\sparkl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1326" y="2062886"/>
            <a:ext cx="263347" cy="26334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68680" y="2606040"/>
            <a:ext cx="30449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Activate AI Explanations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3063240"/>
            <a:ext cx="30449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 on GPT-4o mini with a real API key — live alert briefings, case summaries, and FIU-IND report narratives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4325112" y="1691640"/>
            <a:ext cx="3502152" cy="2148840"/>
          </a:xfrm>
          <a:prstGeom prst="roundRect">
            <a:avLst>
              <a:gd name="adj" fmla="val 3404"/>
            </a:avLst>
          </a:prstGeom>
          <a:solidFill>
            <a:srgbClr val="141B2E"/>
          </a:solidFill>
          <a:ln w="12700">
            <a:solidFill>
              <a:srgbClr val="223049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553712" y="1920240"/>
            <a:ext cx="548640" cy="548640"/>
          </a:xfrm>
          <a:prstGeom prst="ellipse">
            <a:avLst/>
          </a:prstGeom>
          <a:solidFill>
            <a:srgbClr val="1D3B66"/>
          </a:solidFill>
          <a:ln/>
        </p:spPr>
      </p:sp>
      <p:pic>
        <p:nvPicPr>
          <p:cNvPr id="11" name="Image 1" descr="C:\Users\Dell\AppData\Local\Temp\claude\C--Users-Dell-Documents-chakravyuh\a4ec3c1a-964e-4574-a792-caf74a383059\scratchpad\virgil_ppt\icons\filetex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96358" y="2062886"/>
            <a:ext cx="263347" cy="263347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553712" y="2606040"/>
            <a:ext cx="30449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Regulatory Reporting</a:t>
            </a:r>
            <a:endParaRPr lang="en-US" sz="1250" dirty="0"/>
          </a:p>
        </p:txBody>
      </p:sp>
      <p:sp>
        <p:nvSpPr>
          <p:cNvPr id="13" name="Text 9"/>
          <p:cNvSpPr txBox="1"/>
          <p:nvPr/>
        </p:nvSpPr>
        <p:spPr>
          <a:xfrm>
            <a:off x="4553712" y="3063240"/>
            <a:ext cx="30449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One-click STR/SAR filing package generation, fully formatted for FIU-IND submission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8010144" y="1691640"/>
            <a:ext cx="3502152" cy="2148840"/>
          </a:xfrm>
          <a:prstGeom prst="roundRect">
            <a:avLst>
              <a:gd name="adj" fmla="val 3404"/>
            </a:avLst>
          </a:prstGeom>
          <a:solidFill>
            <a:srgbClr val="141B2E"/>
          </a:solidFill>
          <a:ln w="12700">
            <a:solidFill>
              <a:srgbClr val="223049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8238744" y="1920240"/>
            <a:ext cx="548640" cy="548640"/>
          </a:xfrm>
          <a:prstGeom prst="ellipse">
            <a:avLst/>
          </a:prstGeom>
          <a:solidFill>
            <a:srgbClr val="1D3B66"/>
          </a:solidFill>
          <a:ln/>
        </p:spPr>
      </p:sp>
      <p:pic>
        <p:nvPicPr>
          <p:cNvPr id="16" name="Image 2" descr="C:\Users\Dell\AppData\Local\Temp\claude\C--Users-Dell-Documents-chakravyuh\a4ec3c1a-964e-4574-a792-caf74a383059\scratchpad\virgil_ppt\icons\brai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1390" y="2062886"/>
            <a:ext cx="263347" cy="263347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8238744" y="2606040"/>
            <a:ext cx="30449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Learned Risk Weights</a:t>
            </a:r>
            <a:endParaRPr lang="en-US" sz="1250" dirty="0"/>
          </a:p>
        </p:txBody>
      </p:sp>
      <p:sp>
        <p:nvSpPr>
          <p:cNvPr id="18" name="Text 13"/>
          <p:cNvSpPr txBox="1"/>
          <p:nvPr/>
        </p:nvSpPr>
        <p:spPr>
          <a:xfrm>
            <a:off x="8238744" y="3063240"/>
            <a:ext cx="30449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 analyst feedback (confirmed fraud / false positive) back into the engine to tune signal weights over time</a:t>
            </a:r>
            <a:endParaRPr lang="en-US" sz="1000" dirty="0"/>
          </a:p>
        </p:txBody>
      </p:sp>
      <p:sp>
        <p:nvSpPr>
          <p:cNvPr id="19" name="Shape 14"/>
          <p:cNvSpPr/>
          <p:nvPr/>
        </p:nvSpPr>
        <p:spPr>
          <a:xfrm>
            <a:off x="640080" y="4023360"/>
            <a:ext cx="3502152" cy="2148840"/>
          </a:xfrm>
          <a:prstGeom prst="roundRect">
            <a:avLst>
              <a:gd name="adj" fmla="val 3404"/>
            </a:avLst>
          </a:prstGeom>
          <a:solidFill>
            <a:srgbClr val="141B2E"/>
          </a:solidFill>
          <a:ln w="12700">
            <a:solidFill>
              <a:srgbClr val="223049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868680" y="4251960"/>
            <a:ext cx="548640" cy="548640"/>
          </a:xfrm>
          <a:prstGeom prst="ellipse">
            <a:avLst/>
          </a:prstGeom>
          <a:solidFill>
            <a:srgbClr val="1D3B66"/>
          </a:solidFill>
          <a:ln/>
        </p:spPr>
      </p:sp>
      <p:pic>
        <p:nvPicPr>
          <p:cNvPr id="21" name="Image 3" descr="C:\Users\Dell\AppData\Local\Temp\claude\C--Users-Dell-Documents-chakravyuh\a4ec3c1a-964e-4574-a792-caf74a383059\scratchpad\virgil_ppt\icons\networ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4394606"/>
            <a:ext cx="263347" cy="263347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868680" y="4937760"/>
            <a:ext cx="30449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Deeper Graph Intelligence</a:t>
            </a:r>
            <a:endParaRPr lang="en-US" sz="1250" dirty="0"/>
          </a:p>
        </p:txBody>
      </p:sp>
      <p:sp>
        <p:nvSpPr>
          <p:cNvPr id="23" name="Text 17"/>
          <p:cNvSpPr txBox="1"/>
          <p:nvPr/>
        </p:nvSpPr>
        <p:spPr>
          <a:xfrm>
            <a:off x="868680" y="5394960"/>
            <a:ext cx="30449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Multi-hop mule network detection, centrality analysis, cross-bank account linking</a:t>
            </a:r>
            <a:endParaRPr lang="en-US" sz="1000" dirty="0"/>
          </a:p>
        </p:txBody>
      </p:sp>
      <p:sp>
        <p:nvSpPr>
          <p:cNvPr id="24" name="Shape 18"/>
          <p:cNvSpPr/>
          <p:nvPr/>
        </p:nvSpPr>
        <p:spPr>
          <a:xfrm>
            <a:off x="4325112" y="4023360"/>
            <a:ext cx="3502152" cy="2148840"/>
          </a:xfrm>
          <a:prstGeom prst="roundRect">
            <a:avLst>
              <a:gd name="adj" fmla="val 3404"/>
            </a:avLst>
          </a:prstGeom>
          <a:solidFill>
            <a:srgbClr val="141B2E"/>
          </a:solidFill>
          <a:ln w="12700">
            <a:solidFill>
              <a:srgbClr val="223049"/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4553712" y="4251960"/>
            <a:ext cx="548640" cy="548640"/>
          </a:xfrm>
          <a:prstGeom prst="ellipse">
            <a:avLst/>
          </a:prstGeom>
          <a:solidFill>
            <a:srgbClr val="1D3B66"/>
          </a:solidFill>
          <a:ln/>
        </p:spPr>
      </p:sp>
      <p:pic>
        <p:nvPicPr>
          <p:cNvPr id="26" name="Image 4" descr="C:\Users\Dell\AppData\Local\Temp\claude\C--Users-Dell-Documents-chakravyuh\a4ec3c1a-964e-4574-a792-caf74a383059\scratchpad\virgil_ppt\icons\databas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96358" y="4394606"/>
            <a:ext cx="263347" cy="263347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4553712" y="4937760"/>
            <a:ext cx="30449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FB9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Database</a:t>
            </a:r>
            <a:endParaRPr lang="en-US" sz="1250" dirty="0"/>
          </a:p>
        </p:txBody>
      </p:sp>
      <p:sp>
        <p:nvSpPr>
          <p:cNvPr id="28" name="Text 21"/>
          <p:cNvSpPr txBox="1"/>
          <p:nvPr/>
        </p:nvSpPr>
        <p:spPr>
          <a:xfrm>
            <a:off x="4553712" y="5394960"/>
            <a:ext cx="30449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 from in-memory JSON to PostgreSQL with real transaction volume and history</a:t>
            </a:r>
            <a:endParaRPr lang="en-US" sz="1000" dirty="0"/>
          </a:p>
        </p:txBody>
      </p:sp>
      <p:sp>
        <p:nvSpPr>
          <p:cNvPr id="29" name="Shape 22"/>
          <p:cNvSpPr/>
          <p:nvPr/>
        </p:nvSpPr>
        <p:spPr>
          <a:xfrm>
            <a:off x="8010144" y="4023360"/>
            <a:ext cx="3502152" cy="2148840"/>
          </a:xfrm>
          <a:prstGeom prst="roundRect">
            <a:avLst>
              <a:gd name="adj" fmla="val 3404"/>
            </a:avLst>
          </a:prstGeom>
          <a:solidFill>
            <a:srgbClr val="141B2E"/>
          </a:solidFill>
          <a:ln w="12700">
            <a:solidFill>
              <a:srgbClr val="223049"/>
            </a:solidFill>
            <a:prstDash val="solid"/>
          </a:ln>
        </p:spPr>
      </p:sp>
      <p:sp>
        <p:nvSpPr>
          <p:cNvPr id="30" name="Shape 23"/>
          <p:cNvSpPr/>
          <p:nvPr/>
        </p:nvSpPr>
        <p:spPr>
          <a:xfrm>
            <a:off x="8238744" y="4251960"/>
            <a:ext cx="548640" cy="548640"/>
          </a:xfrm>
          <a:prstGeom prst="ellipse">
            <a:avLst/>
          </a:prstGeom>
          <a:solidFill>
            <a:srgbClr val="1D3B66"/>
          </a:solidFill>
          <a:ln/>
        </p:spPr>
      </p:sp>
      <p:pic>
        <p:nvPicPr>
          <p:cNvPr id="31" name="Image 5" descr="C:\Users\Dell\AppData\Local\Temp\claude\C--Users-Dell-Documents-chakravyuh\a4ec3c1a-964e-4574-a792-caf74a383059\scratchpad\virgil_ppt\icons\glob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81390" y="4394606"/>
            <a:ext cx="263347" cy="263347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8238744" y="4937760"/>
            <a:ext cx="30449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Multi-Bank / Multi-Channel</a:t>
            </a:r>
            <a:endParaRPr lang="en-US" sz="1250" dirty="0"/>
          </a:p>
        </p:txBody>
      </p:sp>
      <p:sp>
        <p:nvSpPr>
          <p:cNvPr id="33" name="Text 25"/>
          <p:cNvSpPr txBox="1"/>
          <p:nvPr/>
        </p:nvSpPr>
        <p:spPr>
          <a:xfrm>
            <a:off x="8238744" y="5394960"/>
            <a:ext cx="30449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 beyond UPI to cards, NEFT/RTGS, and cross-institution transaction sharing</a:t>
            </a:r>
            <a:endParaRPr lang="en-US" sz="1000" dirty="0"/>
          </a:p>
        </p:txBody>
      </p:sp>
      <p:sp>
        <p:nvSpPr>
          <p:cNvPr id="34" name="Text 26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38648" y="1828800"/>
            <a:ext cx="914400" cy="914400"/>
          </a:xfrm>
          <a:prstGeom prst="ellipse">
            <a:avLst/>
          </a:prstGeom>
          <a:solidFill>
            <a:srgbClr val="1D3B66"/>
          </a:solidFill>
          <a:ln/>
        </p:spPr>
      </p:sp>
      <p:pic>
        <p:nvPicPr>
          <p:cNvPr id="3" name="Image 0" descr="C:\Users\Dell\AppData\Local\Temp\claude\C--Users-Dell-Documents-chakravyuh\a4ec3c1a-964e-4574-a792-caf74a383059\scratchpad\virgil_ppt\icons\shiel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76392" y="2066544"/>
            <a:ext cx="438912" cy="438912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0" y="2971800"/>
            <a:ext cx="121916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4400" dirty="0"/>
          </a:p>
        </p:txBody>
      </p:sp>
      <p:sp>
        <p:nvSpPr>
          <p:cNvPr id="5" name="Text 2"/>
          <p:cNvSpPr txBox="1"/>
          <p:nvPr/>
        </p:nvSpPr>
        <p:spPr>
          <a:xfrm>
            <a:off x="0" y="3794760"/>
            <a:ext cx="121916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&amp; Discussion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547208" y="4480560"/>
            <a:ext cx="1097280" cy="0"/>
          </a:xfrm>
          <a:prstGeom prst="line">
            <a:avLst/>
          </a:prstGeom>
          <a:noFill/>
          <a:ln w="19050">
            <a:solidFill>
              <a:srgbClr val="223049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0" y="4709160"/>
            <a:ext cx="121916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spc="1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VIRGIL  ·  Real-Time Banking Fraud Intelligence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2026-09-06T12:43:22Z</dcterms:created>
  <dcterms:modified xsi:type="dcterms:W3CDTF">2026-09-06T12:43:22Z</dcterms:modified>
</cp:coreProperties>
</file>