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Amount</c:v>
                  </c:pt>
                  <c:pt idx="1">
                    <c:v>Time</c:v>
                  </c:pt>
                  <c:pt idx="2">
                    <c:v>Device</c:v>
                  </c:pt>
                  <c:pt idx="3">
                    <c:v>Beneficiary</c:v>
                  </c:pt>
                  <c:pt idx="4">
                    <c:v>Graph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0</c:v>
                </c:pt>
                <c:pt idx="2">
                  <c:v>0</c:v>
                </c:pt>
                <c:pt idx="3">
                  <c:v>17.25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B2E"/>
        </a:solidFill>
        <a:ln>
          <a:noFill/>
        </a:ln>
        <a:effectLst/>
      </c:spPr>
    </c:plotArea>
    <c:plotVisOnly val="1"/>
    <c:dispBlanksAs val="span"/>
  </c:chart>
  <c:spPr>
    <a:solidFill>
      <a:srgbClr val="14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3" name="Image 0" descr="C:\Users\Dell\AppData\Local\Temp\claude\C--Users-Dell-Documents-chakravyuh\a4ec3c1a-964e-4574-a792-caf74a383059\scratchpad\virgil_ppt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67883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3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VIRGIL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Banking Fraud Intelligence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02336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Pre-transaction risk scoring  ·  device &amp; network intelligence  ·  analyst investigation console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547208" y="4892040"/>
            <a:ext cx="1097280" cy="0"/>
          </a:xfrm>
          <a:prstGeom prst="line">
            <a:avLst/>
          </a:prstGeom>
          <a:noFill/>
          <a:ln w="19050">
            <a:solidFill>
              <a:srgbClr val="22304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Financial Fraud Detection System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 Kadam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 — Elite Level: Real-Time Adaptive Intelligence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system that can detect and prevent financial fraud before transactions are completed. The system must identify coordinated, stealthy, and evolving fraud patterns across users and channels — analyzing behavior, transaction context, and device intelligence to catch anomalies with real-time decision-making and minimal latency.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35204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8" name="Image 0" descr="C:\Users\Dell\AppData\Local\Temp\claude\C--Users-Dell-Documents-chakravyuh\a4ec3c1a-964e-4574-a792-caf74a383059\scratchpad\virgil_ppt\icons\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366308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96112" y="42519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Pre-transaction decisioning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49834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verify, review, or block — before money moves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47288" y="32461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35204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3" name="Image 1" descr="C:\Users\Dell\AppData\Local\Temp\claude\C--Users-Dell-Documents-chakravyuh\a4ec3c1a-964e-4574-a792-caf74a383059\scratchpad\virgil_ppt\icons\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966" y="36630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03320" y="42519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scoring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49834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transaction to that account’s own baseline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54496" y="32461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10528" y="35204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8" name="Image 2" descr="C:\Users\Dell\AppData\Local\Temp\claude\C--Users-Dell-Documents-chakravyuh\a4ec3c1a-964e-4574-a792-caf74a383059\scratchpad\virgil_ppt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4" y="36630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10528" y="42519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chain detection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10528" y="49834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→ exploitation, laundering rings, layering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61704" y="324612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17736" y="35204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3" name="Image 3" descr="C:\Users\Dell\AppData\Local\Temp\claude\C--Users-Dell-Documents-chakravyuh\a4ec3c1a-964e-4574-a792-caf74a383059\scratchpad\virgil_ppt\icons\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382" y="366308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17736" y="42519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low latency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317736" y="4983480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 in milliseconds, not batch jobs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Virgil,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fraud intelligence platform: a mock banking payment app that scores every transaction in real time, plus the analyst investigation console a bank’s fraud team would actually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7" name="Image 0" descr="C:\Users\Dell\AppData\Local\Temp\claude\C--Users-Dell-Documents-chakravyuh\a4ec3c1a-964e-4574-a792-caf74a383059\scratchpad\virgil_ppt\icons\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822936"/>
            <a:ext cx="316017" cy="3160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624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Pre-Transaction Scoring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99008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Five-signal deterministic risk engine, 0–100 score, decision in milliseconds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65176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2" name="Image 1" descr="C:\Users\Dell\AppData\Local\Temp\claude\C--Users-Dell-Documents-chakravyuh\a4ec3c1a-964e-4574-a792-caf74a383059\scratchpad\virgil_ppt\icons\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136" y="282293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62432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&amp; Network Intelligence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99008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per-account device trust, IP risk, and transaction graph signals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5262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84632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7" name="Image 2" descr="C:\Users\Dell\AppData\Local\Temp\claude\C--Users-Dell-Documents-chakravyuh\a4ec3c1a-964e-4574-a792-caf74a383059\scratchpad\virgil_ppt\icons\layout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501749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8188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Console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51846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inbox, investigation cases, fund-flow graph, manual review queue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5262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84632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2" name="Image 3" descr="C:\Users\Dell\AppData\Local\Temp\claude\C--Users-Dell-Documents-chakravyuh\a4ec3c1a-964e-4574-a792-caf74a383059\scratchpad\virgil_ppt\icons\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36" y="5017496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06640" y="48188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Live Test Scenarios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406640" y="51846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simulator that fires real API calls across every fraud pattern on demand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BUILT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2536" y="224028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6" name="Image 0" descr="C:\Users\Dell\AppData\Local\Temp\claude\C--Users-Dell-Documents-chakravyuh\a4ec3c1a-964e-4574-a792-caf74a383059\scratchpad\virgil_ppt\icons\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712" y="24114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0120" y="3749040"/>
            <a:ext cx="2743200" cy="0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GPay mock payment UI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462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 detection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49926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console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55229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simulator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9659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74436" y="224028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6" name="Image 1" descr="C:\Users\Dell\AppData\Local\Temp\claude\C--Users-Dell-Documents-chakravyuh\a4ec3c1a-964e-4574-a792-caf74a383059\scratchpad\virgil_ppt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612" y="2411456"/>
            <a:ext cx="316017" cy="31601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4340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34340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663440" y="3749040"/>
            <a:ext cx="2880360" cy="0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636008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5-signal scoring engine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4636008" y="44622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network analysis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636008" y="499262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case generation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636008" y="55229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 (dormant)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275320" y="196596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569196" y="2240280"/>
            <a:ext cx="658368" cy="65836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6" name="Image 2" descr="C:\Users\Dell\AppData\Local\Temp\claude\C--Users-Dell-Documents-chakravyuh\a4ec3c1a-964e-4574-a792-caf74a383059\scratchpad\virgil_ppt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372" y="2411456"/>
            <a:ext cx="316017" cy="31601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275320" y="30175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275320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records · in-memory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595360" y="3749040"/>
            <a:ext cx="2606040" cy="0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567928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account profiles</a:t>
            </a:r>
            <a:endParaRPr lang="en-US" sz="1150" dirty="0"/>
          </a:p>
        </p:txBody>
      </p:sp>
      <p:sp>
        <p:nvSpPr>
          <p:cNvPr id="31" name="Text 26"/>
          <p:cNvSpPr txBox="1"/>
          <p:nvPr/>
        </p:nvSpPr>
        <p:spPr>
          <a:xfrm>
            <a:off x="8567928" y="44622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device trust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8567928" y="4992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150" dirty="0"/>
          </a:p>
        </p:txBody>
      </p:sp>
      <p:sp>
        <p:nvSpPr>
          <p:cNvPr id="33" name="Text 28"/>
          <p:cNvSpPr txBox="1"/>
          <p:nvPr/>
        </p:nvSpPr>
        <p:spPr>
          <a:xfrm>
            <a:off x="8567928" y="55229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cases</a:t>
            </a:r>
            <a:endParaRPr lang="en-US" sz="1150" dirty="0"/>
          </a:p>
        </p:txBody>
      </p:sp>
      <p:pic>
        <p:nvPicPr>
          <p:cNvPr id="34" name="Image 3" descr="C:\Users\Dell\AppData\Local\Temp\claude\C--Users-Dell-Documents-chakravyuh\a4ec3c1a-964e-4574-a792-caf74a383059\scratchpad\virgil_ppt\icons\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313432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3566160" y="2606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/score</a:t>
            </a:r>
            <a:endParaRPr lang="en-US" sz="850" dirty="0"/>
          </a:p>
        </p:txBody>
      </p:sp>
      <p:pic>
        <p:nvPicPr>
          <p:cNvPr id="36" name="Image 4" descr="C:\Users\Dell\AppData\Local\Temp\claude\C--Users-Dell-Documents-chakravyuh\a4ec3c1a-964e-4574-a792-caf74a383059\scratchpad\virgil_ppt\icons\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31343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360920" y="2606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850" dirty="0"/>
          </a:p>
        </p:txBody>
      </p:sp>
      <p:sp>
        <p:nvSpPr>
          <p:cNvPr id="38" name="Text 31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database required — the app runs entirely in-memory, seeded from JSON on startup, and degrades gracefully without PostgreSQL or an OpenAI key.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73936"/>
            <a:ext cx="566928" cy="56692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6" name="Image 0" descr="C:\Users\Dell\AppData\Local\Temp\claude\C--Users-Dell-Documents-chakravyuh\a4ec3c1a-964e-4574-a792-caf74a383059\scratchpad\virgil_ppt\icons\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921337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28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57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TypeScript, Tailwind CSS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73936"/>
            <a:ext cx="566928" cy="56692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1" name="Image 1" descr="C:\Users\Dell\AppData\Local\Temp\claude\C--Users-Dell-Documents-chakravyuh\a4ec3c1a-964e-4574-a792-caf74a383059\scratchpad\virgil_ppt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09" y="192133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282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057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3.11, Pydantic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6517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2825496"/>
            <a:ext cx="566928" cy="56692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6" name="Image 2" descr="C:\Users\Dell\AppData\Local\Temp\claude\C--Users-Dell-Documents-chakravyuh\a4ec3c1a-964e-4574-a792-caf74a383059\scratchpad\virgil_ppt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97289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277977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— circular transfer &amp; layering detection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65176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2825496"/>
            <a:ext cx="566928" cy="56692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1" name="Image 3" descr="C:\Users\Dell\AppData\Local\Temp\claude\C--Users-Dell-Documents-chakravyuh\a4ec3c1a-964e-4574-a792-caf74a383059\scratchpad\virgil_ppt\icons\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209" y="297289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277977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(future-ready)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1089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mini — wired in, dormant until enabled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7033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3877056"/>
            <a:ext cx="566928" cy="56692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6" name="Image 4" descr="C:\Users\Dell\AppData\Local\Temp\claude\C--Users-Dell-Documents-chakravyuh\a4ec3c1a-964e-4574-a792-caf74a383059\scratchpad\virgil_ppt\icons\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49" y="4024457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383133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— FIU-style PDF investigation reports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370332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64808" y="3877056"/>
            <a:ext cx="566928" cy="566928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31" name="Image 5" descr="C:\Users\Dell\AppData\Local\Temp\claude\C--Users-Dell-Documents-chakravyuh\a4ec3c1a-964e-4574-a792-caf74a383059\scratchpad\virgil_ppt\icons\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209" y="4024457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383133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4160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JSON-backed in-memory store, PostgreSQL-ready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Signals, One Score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scored 0–100 by five independent, additive checks — pure deterministic math, not a black-box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48256" cy="3794760"/>
          </a:xfrm>
          <a:prstGeom prst="roundRect">
            <a:avLst>
              <a:gd name="adj" fmla="val 3571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37744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7" name="Image 0" descr="C:\Users\Dell\AppData\Local\Temp\claude\C--Users-Dell-Documents-chakravyuh\a4ec3c1a-964e-4574-a792-caf74a383059\scratchpad\virgil_ppt\icons\rup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978" y="2539106"/>
            <a:ext cx="298460" cy="298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673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Deviation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709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this payment is from the sender’s own baseline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25496" y="2103120"/>
            <a:ext cx="2048256" cy="3794760"/>
          </a:xfrm>
          <a:prstGeom prst="roundRect">
            <a:avLst>
              <a:gd name="adj" fmla="val 3571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38728" y="237744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4" name="Image 1" descr="C:\Users\Dell\AppData\Local\Temp\claude\C--Users-Dell-Documents-chakravyuh\a4ec3c1a-964e-4574-a792-caf74a383059\scratchpad\virgil_ppt\icons\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394" y="2539106"/>
            <a:ext cx="298460" cy="298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25496" y="3154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2825496" y="37673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2935224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2962656" y="4709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sender’s normal active hours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10912" y="2103120"/>
            <a:ext cx="2048256" cy="3794760"/>
          </a:xfrm>
          <a:prstGeom prst="roundRect">
            <a:avLst>
              <a:gd name="adj" fmla="val 3571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24144" y="237744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1" name="Image 2" descr="C:\Users\Dell\AppData\Local\Temp\claude\C--Users-Dell-Documents-chakravyuh\a4ec3c1a-964e-4574-a792-caf74a383059\scratchpad\virgil_ppt\icons\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810" y="2539106"/>
            <a:ext cx="298460" cy="2984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010912" y="3154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23" name="Text 18"/>
          <p:cNvSpPr txBox="1"/>
          <p:nvPr/>
        </p:nvSpPr>
        <p:spPr>
          <a:xfrm>
            <a:off x="5010912" y="37673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120640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5148072" y="4709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device vs. an unrecognized one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196328" y="2103120"/>
            <a:ext cx="2048256" cy="3794760"/>
          </a:xfrm>
          <a:prstGeom prst="roundRect">
            <a:avLst>
              <a:gd name="adj" fmla="val 3571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909560" y="237744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8" name="Image 3" descr="C:\Users\Dell\AppData\Local\Temp\claude\C--Users-Dell-Documents-chakravyuh\a4ec3c1a-964e-4574-a792-caf74a383059\scratchpad\virgil_ppt\icons\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226" y="2539106"/>
            <a:ext cx="298460" cy="2984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96328" y="3154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30" name="Text 24"/>
          <p:cNvSpPr txBox="1"/>
          <p:nvPr/>
        </p:nvSpPr>
        <p:spPr>
          <a:xfrm>
            <a:off x="7196328" y="37673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7306056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Risk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7333488" y="4709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payee, risk rating, fraud flags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9381744" y="2103120"/>
            <a:ext cx="2048256" cy="3794760"/>
          </a:xfrm>
          <a:prstGeom prst="roundRect">
            <a:avLst>
              <a:gd name="adj" fmla="val 3571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094976" y="237744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35" name="Image 4" descr="C:\Users\Dell\AppData\Local\Temp\claude\C--Users-Dell-Documents-chakravyuh\a4ec3c1a-964e-4574-a792-caf74a383059\scratchpad\virgil_ppt\icons\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642" y="2539106"/>
            <a:ext cx="298460" cy="29846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381744" y="315468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37" name="Text 30"/>
          <p:cNvSpPr txBox="1"/>
          <p:nvPr/>
        </p:nvSpPr>
        <p:spPr>
          <a:xfrm>
            <a:off x="9381744" y="3767328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points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9491472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Network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9518904" y="4709160"/>
            <a:ext cx="1773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transfers, layering, mule patterns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sum of all five, clamped to 0–100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Patel (avg. spend ₹1,20,000/month) sends ₹1,50,000 to Vijay Kumar — a first-time, high-risk payee.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205740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35240" y="22860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67.25 / 100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3017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01000" y="3520440"/>
            <a:ext cx="3154680" cy="0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AMOUNT_DEVIATION_1.25X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FIRST_TIME_BENEFICIARY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517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FLAG_HIGH_RISK_JURISDICTION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4901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CIRCULAR_TRANSFERS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5285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LAYERING_DETECTED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SCORE TO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233172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7" name="Image 0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535" y="2521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0–29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instantly — customer never sees a check happened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47288" y="192024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7288" y="192024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84548" y="233172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C:\Users\Dell\AppData\Local\Temp\claude\C--Users-Dell-Documents-chakravyuh\a4ec3c1a-964e-4574-a792-caf74a383059\scratchpad\virgil_ppt\icons\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43" y="252191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47288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30–59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3447288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630168" y="4251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verification — fingerprint / face / OTP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54496" y="192024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54496" y="192024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20" name="Shape 16"/>
          <p:cNvSpPr/>
          <p:nvPr/>
        </p:nvSpPr>
        <p:spPr>
          <a:xfrm>
            <a:off x="7191756" y="2331720"/>
            <a:ext cx="731520" cy="731520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21" name="Image 2" descr="C:\Users\Dell\AppData\Local\Temp\claude\C--Users-Dell-Documents-chakravyuh\a4ec3c1a-964e-4574-a792-caf74a383059\scratchpad\virgil_ppt\icons\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51" y="252191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54496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6254496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437376" y="4251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Held; alert created; analyst investigates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61704" y="192024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061704" y="1920240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7" name="Shape 22"/>
          <p:cNvSpPr/>
          <p:nvPr/>
        </p:nvSpPr>
        <p:spPr>
          <a:xfrm>
            <a:off x="9998964" y="233172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8" name="Image 3" descr="C:\Users\Dell\AppData\Local\Temp\claude\C--Users-Dell-Documents-chakravyuh\a4ec3c1a-964e-4574-a792-caf74a383059\scratchpad\virgil_ppt\icons\x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159" y="2521915"/>
            <a:ext cx="351130" cy="35113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6170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9061704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244584" y="42519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outright; alert + case auto-created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weak signal rarely blocks a transaction — BLOCK only happens when several signals compound, exactly as real fraud does.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&amp; Fixing a Real Bug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5" name="Image 0" descr="C:\Users\Dell\AppData\Local\Temp\claude\C--Users-Dell-Documents-chakravyuh\a4ec3c1a-964e-4574-a792-caf74a383059\scratchpad\virgil_ppt\icons\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231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was scored as if it came from a brand-new, unrecognized device — the mock payment app hardcoded device_known: false, and the scoring endpoint never checked real device records anyway.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Bug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04164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fixing it, found the account dropdown and the scoring engine were silently reading two different, disagreeing datasets for the same account IDs — same "ACC-008", two different identities.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11" name="Image 1" descr="C:\Users\Dell\AppData\Local\Temp\claude\C--Users-Dell-Documents-chakravyuh\a4ec3c1a-964e-4574-a792-caf74a383059\scratchpad\virgil_ppt\icons\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4231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every account a real registered device with a trust score — known accounts score cleanly, flagged accounts stay risky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4747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the scoring engine look up device trust server-side, instead of trusting the client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45262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both data paths onto one consistent account dataset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live, end-to-end, from a cold restart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the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5" name="Image 0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785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73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profiles &amp; anomaly detection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66360" y="1691640"/>
            <a:ext cx="0" cy="466344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94960" y="16733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has a stored baseline (avg. amount, active hours); each transaction is compared against 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359152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10" name="Image 1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374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43230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fraud chains (ATO → abuse)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166360" y="2450592"/>
            <a:ext cx="0" cy="466344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94960" y="24323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mismatch + amount deviation + new beneficiary are combined into one compounding score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118104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15" name="Image 2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641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19125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scoring with explanations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166360" y="3209544"/>
            <a:ext cx="0" cy="466344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94960" y="31912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5-signal weighted engine, 0–100; reason codes generated for every decision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877056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20" name="Image 3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5536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9502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Pre-transaction decisioning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166360" y="3968496"/>
            <a:ext cx="0" cy="466344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394960" y="3950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API responds before the payment completes: approve / MFA / review / block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636008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25" name="Image 4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1431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4709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fraud ring detection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166360" y="4727448"/>
            <a:ext cx="0" cy="466344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394960" y="4709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detects circular transfers and multi-hop layering patterns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40080" y="5394960"/>
            <a:ext cx="10881360" cy="649224"/>
          </a:xfrm>
          <a:prstGeom prst="roundRect">
            <a:avLst>
              <a:gd name="adj" fmla="val 11268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30" name="Image 5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7326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25880" y="54681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visualization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5166360" y="5486400"/>
            <a:ext cx="0" cy="466344"/>
          </a:xfrm>
          <a:prstGeom prst="line">
            <a:avLst/>
          </a:prstGeom>
          <a:noFill/>
          <a:ln w="12700">
            <a:solidFill>
              <a:srgbClr val="223049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5394960" y="54681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console — alert inbox, investigation cases, and an interactive fund-flow graph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FRAUD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Console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bank’s fraud investigator needs to triage, investigate, and resolve flagged activity.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7" name="Image 0" descr="C:\Users\Dell\AppData\Local\Temp\claude\C--Users-Dell-Documents-chakravyuh\a4ec3c1a-964e-4574-a792-caf74a383059\scratchpad\virgil_ppt\icons\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8803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Inbox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461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alerts with severity, status, and search/filter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21945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2" name="Image 1" descr="C:\Users\Dell\AppData\Local\Temp\claude\C--Users-Dell-Documents-chakravyuh\a4ec3c1a-964e-4574-a792-caf74a383059\scratchpad\virgil_ppt\icons\folder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23372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3712" y="28803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Cases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53712" y="32461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alerts, transactions, timeline, and evidence per case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0144" y="19659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21945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7" name="Image 2" descr="C:\Users\Dell\AppData\Local\Temp\claude\C--Users-Dell-Documents-chakravyuh\a4ec3c1a-964e-4574-a792-caf74a383059\scratchpad\virgil_ppt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90" y="23372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38744" y="28803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Fund-Flow Graph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238744" y="32461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 of the money’s actual path between accounts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452628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2" name="Image 3" descr="C:\Users\Dell\AppData\Local\Temp\claude\C--Users-Dell-Documents-chakravyuh\a4ec3c1a-964e-4574-a792-caf74a383059\scratchpad\virgil_ppt\icons\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66892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68680" y="52120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Queue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68680" y="55778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held in the 60–79 band, with a fast rule-based suggestion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42976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53712" y="452628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7" name="Image 4" descr="C:\Users\Dell\AppData\Local\Temp\claude\C--Users-Dell-Documents-chakravyuh\a4ec3c1a-964e-4574-a792-caf74a383059\scratchpad\virgil_ppt\icons\line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466892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53712" y="52120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Pre-Txn Analytics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553712" y="55778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Live-updating feed of every transaction being scored right now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10144" y="42976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38744" y="452628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32" name="Image 5" descr="C:\Users\Dell\AppData\Local\Temp\claude\C--Users-Dell-Documents-chakravyuh\a4ec3c1a-964e-4574-a792-caf74a383059\scratchpad\virgil_ppt\icons\z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390" y="466892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238744" y="52120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Scorer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238744" y="55778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any account / amount combo and see the real score instantly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Test Case Simulator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one-click scenario runner at /demo — every card fires a real POST request against the real scoring engine, with real seeded accounts. Nothing here is a screenshot or a 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2316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7" name="Image 0" descr="C:\Users\Dell\AppData\Local\Temp\claude\C--Users-Dell-Documents-chakravyuh\a4ec3c1a-964e-4574-a792-caf74a383059\scratchpad\virgil_ppt\icons\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778" y="2584826"/>
            <a:ext cx="298460" cy="298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90672" y="24048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2461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Pre-Transaction Prevention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84048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device, beneficiary, and structuring scenarios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21488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1144" y="242316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3" name="Image 1" descr="C:\Users\Dell\AppData\Local\Temp\claude\C--Users-Dell-Documents-chakravyuh\a4ec3c1a-964e-4574-a792-caf74a383059\scratchpad\virgil_ppt\icons\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810" y="2584826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75704" y="24048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581144" y="32461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Post-Transaction Investigation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581144" y="384048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transfers, layering, mule-network patterns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10144" y="21488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66176" y="2423160"/>
            <a:ext cx="621792" cy="621792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9" name="Image 2" descr="C:\Users\Dell\AppData\Local\Temp\claude\C--Users-Dell-Documents-chakravyuh\a4ec3c1a-964e-4574-a792-caf74a383059\scratchpad\virgil_ppt\icons\layout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842" y="2584826"/>
            <a:ext cx="298460" cy="298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460736" y="240487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266176" y="32461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Dashboard Flows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266176" y="384048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triage, case graph, evidence, feedback loop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24" name="Image 3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93792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54480" y="519379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shows the full pipeline: risk signals in, decision out — the same engine GPay calls, exercised on demand.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CHOICE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Rules, Not a Black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makes the decision.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the 0–100 score is traceable to one of five explicit signals. A regulator, an analyst, or a customer can always be told exactly why a transaction was blocked — not "the model said so."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 — required for regulated banking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needed to get started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hallucinate, nothing to drift silently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 code maps to a real, testable formula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3" name="Image 0" descr="C:\Users\Dell\AppData\Local\Temp\claude\C--Users-Dell-Documents-chakravyuh\a4ec3c1a-964e-4574-a792-caf74a383059\scratchpad\virgil_ppt\icons\spark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0606" y="210860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22376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exists — it’s just off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6974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is fully wired in to write plain-English alert explanations, case summaries, and FIU report narratives. It never influences the score — only explains a decision the math already made.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8862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review, no API key is configured — every AI-touching feature gracefully falls back to deterministic template text instead. Same UI, same buttons, zero API cost, nothing to fail.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Show You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13916" y="2103120"/>
            <a:ext cx="658368" cy="65836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6" name="Image 0" descr="C:\Users\Dell\AppData\Local\Temp\claude\C--Users-Dell-Documents-chakravyuh\a4ec3c1a-964e-4574-a792-caf74a383059\scratchpad\virgil_ppt\icons\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092" y="22742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normal, small payment — goes through instantly, score under 30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47288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21124" y="2103120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C:\Users\Dell\AppData\Local\Temp\claude\C--Users-Dell-Documents-chakravyuh\a4ec3c1a-964e-4574-a792-caf74a383059\scratchpad\virgil_ppt\icons\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300" y="227429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47288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30168" y="33375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moderately unusual payment — triggers biometric step-up verification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28332" y="2103120"/>
            <a:ext cx="658368" cy="658368"/>
          </a:xfrm>
          <a:prstGeom prst="ellipse">
            <a:avLst/>
          </a:prstGeom>
          <a:solidFill>
            <a:srgbClr val="FB923C"/>
          </a:solidFill>
          <a:ln/>
        </p:spPr>
      </p:sp>
      <p:pic>
        <p:nvPicPr>
          <p:cNvPr id="16" name="Image 2" descr="C:\Users\Dell\AppData\Local\Temp\claude\C--Users-Dell-Documents-chakravyuh\a4ec3c1a-964e-4574-a792-caf74a383059\scratchpad\virgil_ppt\icons\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508" y="227429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54496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33375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to a flagged, first-time payee — held for analyst review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61704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35540" y="2103120"/>
            <a:ext cx="658368" cy="65836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1" name="Image 3" descr="C:\Users\Dell\AppData\Local\Temp\claude\C--Users-Dell-Documents-chakravyuh\a4ec3c1a-964e-4574-a792-caf74a383059\scratchpad\virgil_ppt\icons\x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716" y="227429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61704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44584" y="33375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high-risk payment from an unrecognized device — declined outright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82238"/>
          </a:solidFill>
          <a:ln w="12700">
            <a:solidFill>
              <a:srgbClr val="223049"/>
            </a:solidFill>
            <a:prstDash val="solid"/>
          </a:ln>
        </p:spPr>
      </p:sp>
      <p:pic>
        <p:nvPicPr>
          <p:cNvPr id="25" name="Image 4" descr="C:\Users\Dell\AppData\Local\Temp\claude\C--Users-Dell-Documents-chakravyuh\a4ec3c1a-964e-4574-a792-caf74a383059\scratchpad\virgil_ppt\icons\layout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2064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00200" y="51206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we’ll walk through the Analyst Console the same transaction feeds into — and the test simulator that fires all of this on demand.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6" name="Image 0" descr="C:\Users\Dell\AppData\Local\Temp\claude\C--Users-Dell-Documents-chakravyuh\a4ec3c1a-964e-4574-a792-caf74a383059\scratchpad\virgil_ppt\icons\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0628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Leadership Dashboard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632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KPIs, STR/CTR compliance tracking, and model-health monitoring — built, held back for this round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202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1" name="Image 1" descr="C:\Users\Dell\AppData\Local\Temp\claude\C--Users-Dell-Documents-chakravyuh\a4ec3c1a-964e-4574-a792-caf74a383059\scratchpad\virgil_ppt\icons\spark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2062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6060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AI Explanations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0632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GPT-4o mini with a real API key — live alert briefings, case summaries, and FIU-IND report narratives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38744" y="192024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16" name="Image 2" descr="C:\Users\Dell\AppData\Local\Temp\claude\C--Users-Dell-Documents-chakravyuh\a4ec3c1a-964e-4574-a792-caf74a383059\scratchpad\virgil_ppt\icons\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90" y="20628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38744" y="26060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Regulatory Reporting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30632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STR/SAR filing package generation, fully formatted for FIU-IND submission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1" name="Image 3" descr="C:\Users\Dell\AppData\Local\Temp\claude\C--Users-Dell-Documents-chakravyuh\a4ec3c1a-964e-4574-a792-caf74a383059\scratchpad\virgil_ppt\icons\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93776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Risk Weights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3949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analyst feedback (confirmed fraud / false positive) back into the engine to tune signal weights over time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2519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26" name="Image 4" descr="C:\Users\Dell\AppData\Local\Temp\claude\C--Users-Dell-Documents-chakravyuh\a4ec3c1a-964e-4574-a792-caf74a383059\scratchpad\virgil_ppt\icons\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3712" y="493776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Graph Intelligence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53949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mule network detection, centrality analysis, cross-bank account linking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10144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41B2E"/>
          </a:solidFill>
          <a:ln w="12700">
            <a:solidFill>
              <a:srgbClr val="22304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38744" y="4251960"/>
            <a:ext cx="548640" cy="54864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31" name="Image 5" descr="C:\Users\Dell\AppData\Local\Temp\claude\C--Users-Dell-Documents-chakravyuh\a4ec3c1a-964e-4574-a792-caf74a383059\scratchpad\virgil_ppt\icons\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390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38744" y="493776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8238744" y="53949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in-memory JSON to PostgreSQL with real transaction volume and history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828800"/>
            <a:ext cx="914400" cy="914400"/>
          </a:xfrm>
          <a:prstGeom prst="ellipse">
            <a:avLst/>
          </a:prstGeom>
          <a:solidFill>
            <a:srgbClr val="1D3B66"/>
          </a:solidFill>
          <a:ln/>
        </p:spPr>
      </p:sp>
      <p:pic>
        <p:nvPicPr>
          <p:cNvPr id="3" name="Image 0" descr="C:\Users\Dell\AppData\Local\Temp\claude\C--Users-Dell-Documents-chakravyuh\a4ec3c1a-964e-4574-a792-caf74a383059\scratchpad\virgil_ppt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20665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9718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47208" y="4480560"/>
            <a:ext cx="1097280" cy="0"/>
          </a:xfrm>
          <a:prstGeom prst="line">
            <a:avLst/>
          </a:prstGeom>
          <a:noFill/>
          <a:ln w="19050">
            <a:solidFill>
              <a:srgbClr val="22304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7091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VIRGIL  ·  Real-Time Banking Fraud Intelligence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2026-09-07T03:03:28Z</dcterms:created>
  <dcterms:modified xsi:type="dcterms:W3CDTF">2026-09-07T03:03:28Z</dcterms:modified>
</cp:coreProperties>
</file>