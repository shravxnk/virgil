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4"/>
    <p:sldId id="260" r:id="rId3"/>
    <p:sldId id="261" r:id="rId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6062"/>
    <a:srgbClr val="DA31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>
      <p:cViewPr varScale="1">
        <p:scale>
          <a:sx n="63" d="100"/>
          <a:sy n="63" d="100"/>
        </p:scale>
        <p:origin x="73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796" y="4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E6D40C89-1D2E-42C9-AD79-5E024A5F6A11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E5CA20F1-9B12-4236-A14C-758ACCB4D1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36087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7B61CB86-BEE3-4DB7-A266-59DAD553B236}" type="datetimeFigureOut">
              <a:rPr lang="en-IN" smtClean="0"/>
              <a:pPr/>
              <a:t>14-07-2026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307C1086-E94F-44D0-9E39-85AA8FC12ABE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8746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82E73-BBC6-47CC-8043-1D5BBABDA64A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3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151" y="1342408"/>
            <a:ext cx="10515600" cy="8739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76871"/>
            <a:ext cx="10515600" cy="390009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6E42-7F1C-40EC-A9CD-0B1A39B64521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393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5667E-78F7-4B47-9F3B-EE36E714255B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10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DC26-8673-4829-9226-89C5688701D3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091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3CEFF-3E51-464B-8AD4-2B558810F97C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10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9F21-7E7F-4A68-B7A5-6CE615410BCE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992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5E3D2-E750-4BA5-B0D6-6B2CA5F1286A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6325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6FAD4-5766-4E83-9E35-1BDA0BC59D5E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185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3DF0-F6CF-41E5-B56B-477D6E8D78A1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24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950-A4C8-42CE-9347-196CE10D54CC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25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26B2F-E4D9-4DDD-9FDA-EF08B4CA3253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758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7844" y="86485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69367-35DD-4D92-BB8D-EC4F5DFDC6F1}" type="datetime1">
              <a:rPr lang="en-US" smtClean="0"/>
              <a:t>7/14/2026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Capstone Project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41890-78B1-446D-ACB8-09DB24EB6BC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-13692"/>
            <a:ext cx="12211288" cy="70638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209364" y="293871"/>
            <a:ext cx="6744072" cy="858202"/>
            <a:chOff x="119336" y="1512082"/>
            <a:chExt cx="6479501" cy="858202"/>
          </a:xfrm>
          <a:effectLst>
            <a:outerShdw blurRad="50800" dist="76200" dir="2700000" algn="tl" rotWithShape="0">
              <a:prstClr val="black">
                <a:alpha val="70000"/>
              </a:prstClr>
            </a:outerShdw>
          </a:effectLst>
        </p:grpSpPr>
        <p:sp>
          <p:nvSpPr>
            <p:cNvPr id="10" name="Rounded Rectangle 9"/>
            <p:cNvSpPr/>
            <p:nvPr/>
          </p:nvSpPr>
          <p:spPr>
            <a:xfrm>
              <a:off x="119336" y="1512082"/>
              <a:ext cx="6479501" cy="85820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1344" y="1565710"/>
              <a:ext cx="1872208" cy="786194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2" name="Title 1"/>
          <p:cNvSpPr txBox="1">
            <a:spLocks/>
          </p:cNvSpPr>
          <p:nvPr userDrawn="1"/>
        </p:nvSpPr>
        <p:spPr>
          <a:xfrm>
            <a:off x="2285806" y="319528"/>
            <a:ext cx="4495852" cy="786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>
                <a:solidFill>
                  <a:srgbClr val="606062"/>
                </a:solidFill>
                <a:latin typeface="Arial Narrow" panose="020B0606020202030204" pitchFamily="34" charset="0"/>
              </a:rPr>
              <a:t>School of Technology Management &amp; Engineering | Navi Mumbai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772945"/>
            <a:ext cx="12211288" cy="8505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232966" y="319528"/>
            <a:ext cx="0" cy="81416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57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>
        <p14:prism isContent="1"/>
      </p:transition>
    </mc:Choice>
    <mc:Fallback xmlns="">
      <p:transition spd="slow" advClick="0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8647" y="2514600"/>
            <a:ext cx="914400" cy="91440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91" y="2752344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52044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F2A44"/>
                </a:solidFill>
                <a:latin typeface="Calibri"/>
              </a:rPr>
              <a:t>AI-Powered Real-Time Fraud Detection</a:t>
            </a:r>
          </a:p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F2A44"/>
                </a:solidFill>
                <a:latin typeface="Calibri"/>
              </a:rPr>
              <a:t>&amp; Investigation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1447" y="461772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46177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B6EA8"/>
                </a:solidFill>
                <a:latin typeface="Calibri"/>
              </a:rPr>
              <a:t>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Project Progress Presentation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47207" y="5486400"/>
            <a:ext cx="1097280" cy="0"/>
          </a:xfrm>
          <a:prstGeom prst="line">
            <a:avLst/>
          </a:prstGeom>
          <a:ln w="190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605272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A44"/>
                </a:solidFill>
                <a:latin typeface="Calibri"/>
              </a:rPr>
              <a:t>Shravan Kadam  |  70562400199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870448"/>
            <a:ext cx="121916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2A44"/>
                </a:solidFill>
                <a:latin typeface="Calibri"/>
              </a:rPr>
              <a:t>Muzamill Saudagar  |  70562400169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163056"/>
            <a:ext cx="121916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3B6EA8"/>
                </a:solidFill>
                <a:latin typeface="Calibri"/>
              </a:rPr>
              <a:t>Faculty Mentor: Dr. Snehal Lohi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6419088"/>
            <a:ext cx="1219169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Calibri"/>
              </a:rPr>
              <a:t>B.Tech AI &amp; DS  |  STME, NMIMS Navi Mumbai  |  AY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RECAP FROM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Objectives &amp;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6126480" cy="420624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514600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B6EA8"/>
                </a:solidFill>
                <a:latin typeface="Calibri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926079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B6EA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898648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Study and deploy the existing fraud detection system for Indian banking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39311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B6EA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611879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Validate the 5-factor deterministic risk-scoring engine against its documented formulas via live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52544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B6EA8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325112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Analyze graph-based fraud pattern detection - circular transfers, layering, mule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06577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B6EA8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5038344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Design and prototype a supervised ML scoring layer (XGBoost + SHAP), benchmarked against the rule-based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77900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3B6EA8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751576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Produce literature-grounded documentation of the system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331720"/>
            <a:ext cx="3977639" cy="201168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52360" y="2514600"/>
            <a:ext cx="310896" cy="310896"/>
          </a:xfrm>
          <a:prstGeom prst="ellipse">
            <a:avLst/>
          </a:prstGeom>
          <a:solidFill>
            <a:srgbClr val="3C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192" y="2595432"/>
            <a:ext cx="149230" cy="14923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3840" y="251460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3C8D57"/>
                </a:solidFill>
                <a:latin typeface="Calibri"/>
              </a:rPr>
              <a:t>In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926079"/>
            <a:ext cx="3611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-  Pre- &amp; post-transaction risk scoring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-  Rule-based + graph-based (NetworkX) detection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-  Synthetic / demo transaction dataset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-  LLM-generated analyst explanations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-  Proposed ML scoring-layer benchmark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4526279"/>
            <a:ext cx="3977639" cy="201168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52360" y="4709160"/>
            <a:ext cx="310896" cy="31089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192" y="4789992"/>
            <a:ext cx="149230" cy="14923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863840" y="470916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C00000"/>
                </a:solidFill>
                <a:latin typeface="Calibri"/>
              </a:rPr>
              <a:t>Out of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5120640"/>
            <a:ext cx="3611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-  Real production banking data integration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-  High-throughput streaming infra (Kafka)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-  Cross-bank federated fraud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AGAINST THE REVIEW 1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Progress vs. Project Timeline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0360152" cy="429768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7732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2350008"/>
            <a:ext cx="56692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Literature Review &amp; Problem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2350008"/>
            <a:ext cx="1554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W1-W2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418587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C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2418587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C8D57"/>
                </a:solidFill>
                <a:latin typeface="Calibri"/>
              </a:rPr>
              <a:t>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834639"/>
            <a:ext cx="10360152" cy="429768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30651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2852927"/>
            <a:ext cx="56692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Codebase Setup, Deployment &amp;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852927"/>
            <a:ext cx="1554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W2-W3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921507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C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2921507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C8D57"/>
                </a:solidFill>
                <a:latin typeface="Calibri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37559"/>
            <a:ext cx="10360152" cy="429768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33571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63040" y="3355847"/>
            <a:ext cx="56692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Architecture &amp; Risk-Engine Deep Dive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355847"/>
            <a:ext cx="1554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W3-W4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3424427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C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424427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C8D57"/>
                </a:solidFill>
                <a:latin typeface="Calibri"/>
              </a:rPr>
              <a:t>DONE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840479"/>
            <a:ext cx="10360152" cy="429768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936491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63040" y="3858767"/>
            <a:ext cx="56692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Review 1 Submission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858767"/>
            <a:ext cx="1554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W4 - Jul 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92734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392734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B6EA8"/>
                </a:solidFill>
                <a:latin typeface="Calibri"/>
              </a:rPr>
              <a:t>DONE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343399"/>
            <a:ext cx="10360152" cy="429768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439412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63040" y="4361687"/>
            <a:ext cx="56692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Dataset Prep &amp; Feature Engineering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361687"/>
            <a:ext cx="1554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W5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443026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0" y="443026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9971F"/>
                </a:solidFill>
                <a:latin typeface="Calibri"/>
              </a:rPr>
              <a:t>NOT STARTED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846319"/>
            <a:ext cx="10360152" cy="429768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x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942331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63040" y="4864607"/>
            <a:ext cx="56692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ML Model Training (XGBoost)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64607"/>
            <a:ext cx="1554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W6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933188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0" y="49331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9971F"/>
                </a:solidFill>
                <a:latin typeface="Calibri"/>
              </a:rPr>
              <a:t>NOT STARTED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5349239"/>
            <a:ext cx="10360152" cy="429768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45251"/>
            <a:ext cx="237744" cy="23774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463040" y="5367527"/>
            <a:ext cx="56692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Review 2 Submission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5367527"/>
            <a:ext cx="155448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W7 - 25-30 Aug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78240" y="5436107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5436107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B6EA8"/>
                </a:solidFill>
                <a:latin typeface="Calibri"/>
              </a:rPr>
              <a:t>TODAY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943599"/>
            <a:ext cx="103601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We went deeper than planned on validation - found and fixed two real production bugs while deploying the existing system. ML layer work begins now; see the revised plan for the remaining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DELIVERED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What's Live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79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The existing fraud detection system, deployed and validated - every feature below is running, not mocked 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79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2" y="2761487"/>
            <a:ext cx="594360" cy="59436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65" y="2916021"/>
            <a:ext cx="285292" cy="285292"/>
          </a:xfrm>
          <a:prstGeom prst="rect">
            <a:avLst/>
          </a:prstGeom>
        </p:spPr>
      </p:pic>
      <p:pic>
        <p:nvPicPr>
          <p:cNvPr id="8" name="Picture 7" descr="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697479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20240" y="2743199"/>
            <a:ext cx="35204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libri"/>
              </a:rPr>
              <a:t>Pre-Transaction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090672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Five-signal deterministic risk engine, 0-100 score, decision in milliseconds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79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73952" y="2761487"/>
            <a:ext cx="594360" cy="59436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mart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485" y="2916021"/>
            <a:ext cx="285292" cy="285292"/>
          </a:xfrm>
          <a:prstGeom prst="rect">
            <a:avLst/>
          </a:prstGeom>
        </p:spPr>
      </p:pic>
      <p:pic>
        <p:nvPicPr>
          <p:cNvPr id="14" name="Picture 13" descr="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697479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743199"/>
            <a:ext cx="35204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libri"/>
              </a:rPr>
              <a:t>Device &amp; Network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090672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Real per-account device trust, IP risk, and transaction graph signals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48056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0432" y="4773168"/>
            <a:ext cx="594360" cy="59436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ayout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4965" y="4927701"/>
            <a:ext cx="285292" cy="285292"/>
          </a:xfrm>
          <a:prstGeom prst="rect">
            <a:avLst/>
          </a:prstGeom>
        </p:spPr>
      </p:pic>
      <p:pic>
        <p:nvPicPr>
          <p:cNvPr id="20" name="Picture 19" descr="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709160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20240" y="4754880"/>
            <a:ext cx="35204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libri"/>
              </a:rPr>
              <a:t>Analyst Console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102352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Alert inbox, investigation cases, fund-flow graph, manual review queue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8056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3952" y="4773168"/>
            <a:ext cx="594360" cy="59436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x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8485" y="4927701"/>
            <a:ext cx="285292" cy="285292"/>
          </a:xfrm>
          <a:prstGeom prst="rect">
            <a:avLst/>
          </a:prstGeom>
        </p:spPr>
      </p:pic>
      <p:pic>
        <p:nvPicPr>
          <p:cNvPr id="26" name="Picture 25" descr="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4709160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23760" y="4754880"/>
            <a:ext cx="35204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libri"/>
              </a:rPr>
              <a:t>25 Live Test Scenarios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5102352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B6B"/>
                </a:solidFill>
                <a:latin typeface="Calibri"/>
              </a:rPr>
              <a:t>A built-in simulator firing real API calls across every fraud pattern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ANALYSIS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3246120" cy="37947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35708" y="2532888"/>
            <a:ext cx="603504" cy="603504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mart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619" y="2689799"/>
            <a:ext cx="289681" cy="2896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4612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2A44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3872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3B6EA8"/>
                </a:solidFill>
                <a:latin typeface="Calibri"/>
              </a:rPr>
              <a:t>Next.js 14 - TypeScript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3904487"/>
            <a:ext cx="269748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88720" y="406907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GPay mock payment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544567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Real device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020055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Analyst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495543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Test case simulator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331720"/>
            <a:ext cx="3383280" cy="37947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79008" y="2532888"/>
            <a:ext cx="603504" cy="603504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919" y="2689799"/>
            <a:ext cx="289681" cy="2896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89120" y="3246120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2A44"/>
                </a:solidFill>
                <a:latin typeface="Calibri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3872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3B6EA8"/>
                </a:solidFill>
                <a:latin typeface="Calibri"/>
              </a:rPr>
              <a:t>FastAPI - Python 3.11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663440" y="3904487"/>
            <a:ext cx="2834639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663440" y="4069079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5-signal scoring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544567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Graph / network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020055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Alert &amp; case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495543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AI explainer (dormant)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331720"/>
            <a:ext cx="3246120" cy="37947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2308" y="2532888"/>
            <a:ext cx="603504" cy="603504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9219" y="2689799"/>
            <a:ext cx="289681" cy="2896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01000" y="3246120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F2A44"/>
                </a:solidFill>
                <a:latin typeface="Calibri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538728"/>
            <a:ext cx="3246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3B6EA8"/>
                </a:solidFill>
                <a:latin typeface="Calibri"/>
              </a:rPr>
              <a:t>PostgreSQL-ready - in-memory now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75320" y="3904487"/>
            <a:ext cx="269748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75320" y="4069079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Account profiles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544567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Per-account device trust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020055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Transaction history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495543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F2A44"/>
                </a:solidFill>
                <a:latin typeface="Calibri"/>
              </a:rPr>
              <a:t>-  Alerts &amp; cases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6B6B"/>
                </a:solidFill>
                <a:latin typeface="Calibri"/>
              </a:rPr>
              <a:t>PostgreSQL is fully wired in and used automatically when a DATABASE_URL is set - for this review the app runs in-memory, degrading gracefully with zero setup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ANALYSIS &amp;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Data &amp; Design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79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The behavioral baseline every scoring decision is compared against - one record per account, one per registered device.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79"/>
            <a:ext cx="4663440" cy="35661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724911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40" y="2706624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3B6EA8"/>
                </a:solidFill>
                <a:latin typeface="Calibri"/>
              </a:rPr>
              <a:t>Account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88720" y="3246120"/>
            <a:ext cx="411480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3401568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id, name, account_type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822191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kyc_tier, risk_rating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242816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monthly_avg_credit / debit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663440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typical_hours_start /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084064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city,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504688"/>
            <a:ext cx="4114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flags[] (fraud indicators)</a:t>
            </a:r>
          </a:p>
        </p:txBody>
      </p:sp>
      <p:pic>
        <p:nvPicPr>
          <p:cNvPr id="15" name="Picture 14" descr="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6420" y="4133087"/>
            <a:ext cx="365760" cy="23774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080759" y="2468879"/>
            <a:ext cx="5196535" cy="35661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martphonecharg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79" y="2724911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7999" y="270662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3C8D57"/>
                </a:solidFill>
                <a:latin typeface="Calibri"/>
              </a:rPr>
              <a:t>Registered Device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55079" y="3246120"/>
            <a:ext cx="464789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55079" y="3401568"/>
            <a:ext cx="464789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device_id, account_id (FK)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3822191"/>
            <a:ext cx="464789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device_type, os, 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79" y="4242816"/>
            <a:ext cx="464789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trust_score (0-100)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663440"/>
            <a:ext cx="464789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ip_address, geo_location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5084064"/>
            <a:ext cx="4647895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urier New"/>
              </a:rPr>
              <a:t>-  last_seen, first_seen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5650992"/>
            <a:ext cx="46478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6B6B"/>
                </a:solidFill>
                <a:latin typeface="Calibri"/>
              </a:rPr>
              <a:t>1 account -&gt; 1 registered device (extensible to many)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THE CORE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Five Signals, One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79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Every transaction is scored 0-100 by five independent, additive checks - pure deterministic math, not a black-box model.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1947672" cy="3429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95628" y="2642615"/>
            <a:ext cx="585216" cy="585216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p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784" y="2794772"/>
            <a:ext cx="280903" cy="2809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337560"/>
            <a:ext cx="1947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3B6EA8"/>
                </a:solidFill>
                <a:latin typeface="Calibr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max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2A44"/>
                </a:solidFill>
                <a:latin typeface="Calibri"/>
              </a:rPr>
              <a:t>Amount Deviation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663440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How far this payment is from the sender's own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0944" y="2423160"/>
            <a:ext cx="1947672" cy="3429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62171" y="2642615"/>
            <a:ext cx="585216" cy="585216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x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328" y="2794772"/>
            <a:ext cx="280903" cy="2809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80944" y="3337560"/>
            <a:ext cx="1947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3B6EA8"/>
                </a:solidFill>
                <a:latin typeface="Calibri"/>
              </a:rPr>
              <a:t>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886200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max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2384" y="420624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2A44"/>
                </a:solidFill>
                <a:latin typeface="Calibri"/>
              </a:rPr>
              <a:t>Time of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4663440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Outside the sender's normal active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2423160"/>
            <a:ext cx="1947672" cy="3429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8715" y="2642615"/>
            <a:ext cx="585216" cy="585216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mart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0872" y="2794772"/>
            <a:ext cx="280903" cy="28090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47488" y="3337560"/>
            <a:ext cx="1947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3B6EA8"/>
                </a:solidFill>
                <a:latin typeface="Calibr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3886200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max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7" y="420624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2A44"/>
                </a:solidFill>
                <a:latin typeface="Calibri"/>
              </a:rPr>
              <a:t>Device Trust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4663440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Registered device vs. an unrecognized 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14031" y="2423160"/>
            <a:ext cx="1947672" cy="3429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95259" y="2642615"/>
            <a:ext cx="585216" cy="585216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7416" y="2794772"/>
            <a:ext cx="280903" cy="28090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114031" y="3337560"/>
            <a:ext cx="1947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3B6EA8"/>
                </a:solidFill>
                <a:latin typeface="Calibri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1" y="3886200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max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1" y="420624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2A44"/>
                </a:solidFill>
                <a:latin typeface="Calibri"/>
              </a:rPr>
              <a:t>Beneficiary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4663440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First-time payee, risk rating, fraud flags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0576" y="2423160"/>
            <a:ext cx="1947672" cy="3429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61803" y="2642615"/>
            <a:ext cx="585216" cy="585216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3960" y="2794772"/>
            <a:ext cx="280903" cy="28090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180576" y="3337560"/>
            <a:ext cx="19476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3B6EA8"/>
                </a:solidFill>
                <a:latin typeface="Calibri"/>
              </a:rPr>
              <a:t>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3886200"/>
            <a:ext cx="194767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6B6B6B"/>
                </a:solidFill>
                <a:latin typeface="Calibri"/>
              </a:rPr>
              <a:t>max 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5" y="4206240"/>
            <a:ext cx="17647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F2A44"/>
                </a:solidFill>
                <a:latin typeface="Calibri"/>
              </a:rPr>
              <a:t>Graph / Network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3" y="4663440"/>
            <a:ext cx="1728216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6B6B6B"/>
                </a:solidFill>
                <a:latin typeface="Calibri"/>
              </a:rPr>
              <a:t>Circular transfers, layering, mule patterns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989320"/>
            <a:ext cx="103601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3B6EA8"/>
                </a:solidFill>
                <a:latin typeface="Calibri"/>
              </a:rPr>
              <a:t>Total = sum of all five, clamped to 0-100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VALIDATED, NOT ASSUMED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F2A44"/>
                </a:solidFill>
                <a:latin typeface="Calibri"/>
              </a:rPr>
              <a:t>Tested Against the Documented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79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Rajesh Patel (avg. spend Rs.1,20,000/month) sends Rs.1,50,000 to Vijay Kumar - a first-time, high-risk payee. Verified live, from a cold server restart.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6309360" cy="3520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320" y="3192780"/>
            <a:ext cx="868680" cy="2247900"/>
          </a:xfrm>
          <a:prstGeom prst="rect">
            <a:avLst/>
          </a:prstGeom>
          <a:solidFill>
            <a:srgbClr val="3B6EA8"/>
          </a:solidFill>
          <a:ln w="9525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93674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A44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49554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Calibri"/>
              </a:rPr>
              <a:t>Amount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5440680"/>
            <a:ext cx="868680" cy="0"/>
          </a:xfrm>
          <a:prstGeom prst="rect">
            <a:avLst/>
          </a:prstGeom>
          <a:solidFill>
            <a:srgbClr val="3B6EA8"/>
          </a:solidFill>
          <a:ln w="9525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79" y="518464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A44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549554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Calibri"/>
              </a:rPr>
              <a:t>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59" y="5440680"/>
            <a:ext cx="868680" cy="0"/>
          </a:xfrm>
          <a:prstGeom prst="rect">
            <a:avLst/>
          </a:prstGeom>
          <a:solidFill>
            <a:srgbClr val="3B6EA8"/>
          </a:solidFill>
          <a:ln w="9525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518464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A44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549554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Calibri"/>
              </a:rPr>
              <a:t>Device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3889629"/>
            <a:ext cx="868680" cy="1551051"/>
          </a:xfrm>
          <a:prstGeom prst="rect">
            <a:avLst/>
          </a:prstGeom>
          <a:solidFill>
            <a:srgbClr val="3B6EA8"/>
          </a:solidFill>
          <a:ln w="9525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19" y="3633597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A44"/>
                </a:solidFill>
                <a:latin typeface="Calibri"/>
              </a:rPr>
              <a:t>17.25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549554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Calibri"/>
              </a:rPr>
              <a:t>Beneficiary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199" y="3192780"/>
            <a:ext cx="868680" cy="2247900"/>
          </a:xfrm>
          <a:prstGeom prst="rect">
            <a:avLst/>
          </a:prstGeom>
          <a:solidFill>
            <a:srgbClr val="3B6EA8"/>
          </a:solidFill>
          <a:ln w="9525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9" y="2936748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1F2A44"/>
                </a:solidFill>
                <a:latin typeface="Calibri"/>
              </a:rPr>
              <a:t>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39" y="549554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6B6B6B"/>
                </a:solidFill>
                <a:latin typeface="Calibri"/>
              </a:rPr>
              <a:t>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423160"/>
            <a:ext cx="3733495" cy="352044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606040"/>
            <a:ext cx="373349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BF6B04"/>
                </a:solidFill>
                <a:latin typeface="Calibri"/>
              </a:rPr>
              <a:t>67.25 / 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154680"/>
            <a:ext cx="37334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BF6B04"/>
                </a:solidFill>
                <a:latin typeface="Calibri"/>
              </a:rPr>
              <a:t>MANUAL REVIEW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3566160"/>
            <a:ext cx="3093415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18120" y="3749039"/>
            <a:ext cx="3184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  <a:latin typeface="Courier New"/>
              </a:rPr>
              <a:t>-&gt;  AMOUNT_DEVIATION_1.25X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114800"/>
            <a:ext cx="3184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  <a:latin typeface="Courier New"/>
              </a:rPr>
              <a:t>-&gt;  FIRST_TIME_BENEFICIARY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480560"/>
            <a:ext cx="3184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  <a:latin typeface="Courier New"/>
              </a:rPr>
              <a:t>-&gt;  FLAG_HIGH_RISK_JURISDICTION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846320"/>
            <a:ext cx="3184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  <a:latin typeface="Courier New"/>
              </a:rPr>
              <a:t>-&gt;  CIRCULAR_TRANSFERS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212080"/>
            <a:ext cx="318485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F2A44"/>
                </a:solidFill>
                <a:latin typeface="Courier New"/>
              </a:rPr>
              <a:t>-&gt;  LAYERING_DETECTED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FROM SCORE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The Decision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39"/>
            <a:ext cx="2450592" cy="35661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377439"/>
            <a:ext cx="2450592" cy="91440"/>
          </a:xfrm>
          <a:prstGeom prst="rect">
            <a:avLst/>
          </a:prstGeom>
          <a:solidFill>
            <a:srgbClr val="3C8D57"/>
          </a:solidFill>
          <a:ln w="9525">
            <a:solidFill>
              <a:srgbClr val="3C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01367" y="2697479"/>
            <a:ext cx="676656" cy="676656"/>
          </a:xfrm>
          <a:prstGeom prst="ellipse">
            <a:avLst/>
          </a:prstGeom>
          <a:solidFill>
            <a:srgbClr val="3C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298" y="2873410"/>
            <a:ext cx="324794" cy="3247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611879"/>
            <a:ext cx="24505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3C8D57"/>
                </a:solidFill>
                <a:latin typeface="Calibri"/>
              </a:rPr>
              <a:t>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2A44"/>
                </a:solidFill>
                <a:latin typeface="Calibri"/>
              </a:rPr>
              <a:t>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480559"/>
            <a:ext cx="212140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Goes through instantly - customer never sees a check happened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2377439"/>
            <a:ext cx="2450592" cy="35661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47872" y="2377439"/>
            <a:ext cx="2450592" cy="91440"/>
          </a:xfrm>
          <a:prstGeom prst="rect">
            <a:avLst/>
          </a:prstGeom>
          <a:solidFill>
            <a:srgbClr val="C9971F"/>
          </a:solidFill>
          <a:ln w="9525">
            <a:solidFill>
              <a:srgbClr val="C99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697479"/>
            <a:ext cx="676656" cy="676656"/>
          </a:xfrm>
          <a:prstGeom prst="ellipse">
            <a:avLst/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770" y="2873410"/>
            <a:ext cx="324794" cy="3247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7872" y="3611879"/>
            <a:ext cx="24505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C9971F"/>
                </a:solidFill>
                <a:latin typeface="Calibri"/>
              </a:rPr>
              <a:t>30-59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4041648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2A44"/>
                </a:solidFill>
                <a:latin typeface="Calibri"/>
              </a:rPr>
              <a:t>MFA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4" y="4480559"/>
            <a:ext cx="212140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Step-up verification - fingerprint / face / OTP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377439"/>
            <a:ext cx="2450592" cy="35661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2377439"/>
            <a:ext cx="2450592" cy="91440"/>
          </a:xfrm>
          <a:prstGeom prst="rect">
            <a:avLst/>
          </a:prstGeom>
          <a:solidFill>
            <a:srgbClr val="BF6B04"/>
          </a:solidFill>
          <a:ln w="9525">
            <a:solidFill>
              <a:srgbClr val="BF6B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68312" y="2697479"/>
            <a:ext cx="676656" cy="676656"/>
          </a:xfrm>
          <a:prstGeom prst="ellipse">
            <a:avLst/>
          </a:prstGeom>
          <a:solidFill>
            <a:srgbClr val="BF6B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4242" y="2873410"/>
            <a:ext cx="324794" cy="32479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81344" y="3611879"/>
            <a:ext cx="24505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BF6B04"/>
                </a:solidFill>
                <a:latin typeface="Calibri"/>
              </a:rPr>
              <a:t>60-79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4041648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2A44"/>
                </a:solidFill>
                <a:latin typeface="Calibri"/>
              </a:rPr>
              <a:t>MANUAL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4480559"/>
            <a:ext cx="212140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Held; alert created; analyst investigates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14816" y="2377439"/>
            <a:ext cx="2450592" cy="356616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14816" y="2377439"/>
            <a:ext cx="2450592" cy="91440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01784" y="2697479"/>
            <a:ext cx="676656" cy="67665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7714" y="2873410"/>
            <a:ext cx="324794" cy="32479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14816" y="3611879"/>
            <a:ext cx="245059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C00000"/>
                </a:solidFill>
                <a:latin typeface="Calibri"/>
              </a:rPr>
              <a:t>80-100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14816" y="4041648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2A44"/>
                </a:solidFill>
                <a:latin typeface="Calibri"/>
              </a:rPr>
              <a:t>BLOCK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9408" y="4480559"/>
            <a:ext cx="2121408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Rejected outright; alert + case auto-created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35040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6B6B6B"/>
                </a:solidFill>
                <a:latin typeface="Calibri"/>
              </a:rPr>
              <a:t>A single weak signal rarely blocks a transaction - BLOCK only happens when several signals compound, exactly as real fraud does.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PROBLEMS ENCOUNTERED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F2A44"/>
                </a:solidFill>
                <a:latin typeface="Calibri"/>
              </a:rPr>
              <a:t>Engineering Challenges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0360152" cy="1188719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5568" y="2478024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596896"/>
            <a:ext cx="219456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1640" y="2423160"/>
            <a:ext cx="9418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00000"/>
                </a:solidFill>
                <a:latin typeface="Calibri"/>
              </a:rPr>
              <a:t>Silent Data Inconsistency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34056"/>
            <a:ext cx="94183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A44"/>
                </a:solidFill>
                <a:latin typeface="Calibri"/>
              </a:rPr>
              <a:t>Problem: The account dropdown and the scoring engine were reading two different, disagreeing datasets for the same account IDs - same "ACC-008", two different identities and balances.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118103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A44"/>
                </a:solidFill>
                <a:latin typeface="Calibri"/>
              </a:rPr>
              <a:t>Fix: Traced both code paths and unified them onto one consistent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630168"/>
            <a:ext cx="10360152" cy="1188719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3776472"/>
            <a:ext cx="457200" cy="457200"/>
          </a:xfrm>
          <a:prstGeom prst="ellipse">
            <a:avLst/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re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3895344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91640" y="3721607"/>
            <a:ext cx="9418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971F"/>
                </a:solidFill>
                <a:latin typeface="Calibri"/>
              </a:rPr>
              <a:t>Runtime / Tooling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032504"/>
            <a:ext cx="94183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A44"/>
                </a:solidFill>
                <a:latin typeface="Calibri"/>
              </a:rPr>
              <a:t>Problem: The pinned dependency versions (numpy, asyncpg) had no prebuilt wheels for the available Python runtime and needed a C++ compiler this machine didn't have.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416552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A44"/>
                </a:solidFill>
                <a:latin typeface="Calibri"/>
              </a:rPr>
              <a:t>Fix: Substituted compatible unpinned versions; confirmed the app degrades gracefully without PostgreSQL.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28616"/>
            <a:ext cx="10360152" cy="1188719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15568" y="5074920"/>
            <a:ext cx="457200" cy="45720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5193792"/>
            <a:ext cx="219456" cy="2194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91640" y="5020055"/>
            <a:ext cx="9418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B6EA8"/>
                </a:solidFill>
                <a:latin typeface="Calibri"/>
              </a:rPr>
              <a:t>React Hydration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330952"/>
            <a:ext cx="94183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A44"/>
                </a:solidFill>
                <a:latin typeface="Calibri"/>
              </a:rPr>
              <a:t>Problem: Three dashboard pages rendered a live clock's value directly on first render - server and client computed it at slightly different instants, throwing a hydration error.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71500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F2A44"/>
                </a:solidFill>
                <a:latin typeface="Calibri"/>
              </a:rPr>
              <a:t>Fix: Deferred the timestamp to populate only after mount, eliminating the mismatch.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TEAM ROLES &amp;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Individual Contribution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5074920" cy="420624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560320"/>
            <a:ext cx="502920" cy="50292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759" y="2691079"/>
            <a:ext cx="241401" cy="2414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258775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libri"/>
              </a:rPr>
              <a:t>Shravan Kadam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88036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B6EA8"/>
                </a:solidFill>
                <a:latin typeface="Calibri"/>
              </a:rPr>
              <a:t>Rule-engine validation, bug-fixing &amp; full-stack 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200400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C8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C8D57"/>
                </a:solidFill>
                <a:latin typeface="Calibri"/>
              </a:rPr>
              <a:t>SUBSTANTIAL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11879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+  Deployed the existing fraud-detection system 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23944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+  Validated all 5 scoring formulas against live test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3600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+  Found and fixed 2 real production bugs (data consistency, device trust)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48072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+  Built and hardened the GPay demo + Analyst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660136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+  Authored the architecture and data-model documentation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331720"/>
            <a:ext cx="5074920" cy="420624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6520" y="2560320"/>
            <a:ext cx="502920" cy="50292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79" y="2691079"/>
            <a:ext cx="241401" cy="24140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600" y="258775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2A44"/>
                </a:solidFill>
                <a:latin typeface="Calibri"/>
              </a:rPr>
              <a:t>Muzamill Saudagar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88036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B6EA8"/>
                </a:solidFill>
                <a:latin typeface="Calibri"/>
              </a:rPr>
              <a:t>Proposed ML scoring-layer benchmark (XGBoost + SHAP)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200400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200400"/>
            <a:ext cx="1691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9971F"/>
                </a:solidFill>
                <a:latin typeface="Calibri"/>
              </a:rPr>
              <a:t>NOT STARTED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1187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&gt;  Owns the ML track from Review 1: dataset prep -&gt; XGBoost training -&gt; SHAP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78807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&gt;  Scoped in Review 1 for Weeks 5-6; not yet begun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45736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&gt;  Flagged here as the key open risk for the remaining weeks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312664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F2A44"/>
                </a:solidFill>
                <a:latin typeface="Calibri"/>
              </a:rPr>
              <a:t>&gt;  Revised, catch-up plan for this track is on the next-steps slide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6035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6B6B6B"/>
                </a:solidFill>
                <a:latin typeface="Calibri"/>
              </a:rPr>
              <a:t>Reported here in the spirit of Review 2's ask to compare progress honestly against the Review 1 plan.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PROOF, NOT PROMISES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1F2A44"/>
                </a:solidFill>
                <a:latin typeface="Calibri"/>
              </a:rPr>
              <a:t>Built-In Test Case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79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A one-click scenario runner at /demo - every card fires a real POST request against the real scoring engine, with real seeded accounts.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651760"/>
            <a:ext cx="548640" cy="54864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z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46" y="2794406"/>
            <a:ext cx="263347" cy="263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46120" y="2624328"/>
            <a:ext cx="777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3B6EA8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832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2A44"/>
                </a:solidFill>
                <a:latin typeface="Calibri"/>
              </a:rPr>
              <a:t>Pre-Transaction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9319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Amount, device, beneficiary, and structuring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42316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0288" y="2651760"/>
            <a:ext cx="548640" cy="54864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934" y="2794406"/>
            <a:ext cx="263347" cy="2633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93407" y="2624328"/>
            <a:ext cx="777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3B6EA8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3832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2A44"/>
                </a:solidFill>
                <a:latin typeface="Calibri"/>
              </a:rPr>
              <a:t>Post-Transaction Investigation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9319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Circular transfers, layering, mule-network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08975" y="242316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37575" y="2651760"/>
            <a:ext cx="548640" cy="54864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ayout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222" y="2794406"/>
            <a:ext cx="263347" cy="2633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140695" y="2624328"/>
            <a:ext cx="777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600" b="1" i="0">
                <a:solidFill>
                  <a:srgbClr val="3B6EA8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7575" y="3383280"/>
            <a:ext cx="2834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F2A44"/>
                </a:solidFill>
                <a:latin typeface="Calibri"/>
              </a:rPr>
              <a:t>Analyst Dashboard 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7575" y="393192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Alert triage, case graph, evidence, feedback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029200"/>
            <a:ext cx="10360152" cy="96012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000" y="5166360"/>
            <a:ext cx="411480" cy="411480"/>
          </a:xfrm>
          <a:prstGeom prst="ellipse">
            <a:avLst/>
          </a:prstGeom>
          <a:solidFill>
            <a:srgbClr val="3C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984" y="5273344"/>
            <a:ext cx="197510" cy="19751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691640" y="5166360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Every run shows the full pipeline: risk signals in, decision out - the same engine the live demo calls, exercised on demand.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COMING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What We'll Show You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450592" cy="233172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47088" y="2624328"/>
            <a:ext cx="585216" cy="585216"/>
          </a:xfrm>
          <a:prstGeom prst="ellipse">
            <a:avLst/>
          </a:prstGeom>
          <a:solidFill>
            <a:srgbClr val="3C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244" y="2776484"/>
            <a:ext cx="280903" cy="2809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337560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C8D57"/>
                </a:solidFill>
                <a:latin typeface="Calibri"/>
              </a:rPr>
              <a:t>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703320"/>
            <a:ext cx="212140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A normal, small payment - goes through instantly, score under 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47872" y="2423160"/>
            <a:ext cx="2450592" cy="233172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624328"/>
            <a:ext cx="585216" cy="585216"/>
          </a:xfrm>
          <a:prstGeom prst="ellipse">
            <a:avLst/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716" y="2776484"/>
            <a:ext cx="280903" cy="28090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47872" y="3337560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9971F"/>
                </a:solidFill>
                <a:latin typeface="Calibri"/>
              </a:rPr>
              <a:t>MFA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703320"/>
            <a:ext cx="212140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A moderately unusual payment - triggers biometric step-up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423160"/>
            <a:ext cx="2450592" cy="233172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14032" y="2624328"/>
            <a:ext cx="585216" cy="585216"/>
          </a:xfrm>
          <a:prstGeom prst="ellipse">
            <a:avLst/>
          </a:prstGeom>
          <a:solidFill>
            <a:srgbClr val="BF6B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6188" y="2776484"/>
            <a:ext cx="280903" cy="2809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81344" y="3337560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F6B04"/>
                </a:solidFill>
                <a:latin typeface="Calibri"/>
              </a:rPr>
              <a:t>Manual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3703320"/>
            <a:ext cx="212140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A payment to a flagged, first-time payee - held for analyst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14816" y="2423160"/>
            <a:ext cx="2450592" cy="233172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47504" y="2624328"/>
            <a:ext cx="585216" cy="58521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x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660" y="2776484"/>
            <a:ext cx="280903" cy="28090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14816" y="3337560"/>
            <a:ext cx="24505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Calibri"/>
              </a:rPr>
              <a:t>Block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3703320"/>
            <a:ext cx="212140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A high-risk payment from an unrecognized device - declined outright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983479"/>
            <a:ext cx="10360152" cy="1005840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3000" y="5120640"/>
            <a:ext cx="457200" cy="45720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ayout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1872" y="5239512"/>
            <a:ext cx="219456" cy="2194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83080" y="5120640"/>
            <a:ext cx="92354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Then we'll walk through the Analyst Console the same transaction feeds into - and the test simulator that fires all of this on demand.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CATCHING UP THE ML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F2A44"/>
                </a:solidFill>
                <a:latin typeface="Calibri"/>
              </a:rPr>
              <a:t>Revised Plan - Remaining Weeks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31720"/>
            <a:ext cx="10360152" cy="484632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55164"/>
            <a:ext cx="237744" cy="23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2359151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3B6EA8"/>
                </a:solidFill>
                <a:latin typeface="Calibri"/>
              </a:rPr>
              <a:t>W8-W9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88920" y="2386584"/>
            <a:ext cx="0" cy="374904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017520" y="2359151"/>
            <a:ext cx="6309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Calibri"/>
              </a:rPr>
              <a:t>Dataset Prep &amp; Feature Engineering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44602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0" y="2446020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9971F"/>
                </a:solidFill>
                <a:latin typeface="Calibri"/>
              </a:rPr>
              <a:t>MUZAMILL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07791"/>
            <a:ext cx="10360152" cy="484632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031236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63040" y="2935223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3B6EA8"/>
                </a:solidFill>
                <a:latin typeface="Calibri"/>
              </a:rPr>
              <a:t>W9-W11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88920" y="2962656"/>
            <a:ext cx="0" cy="374904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17520" y="2935223"/>
            <a:ext cx="6309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Calibri"/>
              </a:rPr>
              <a:t>ML Model Training (XGBoost) &amp;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3022091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3022091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9971F"/>
                </a:solidFill>
                <a:latin typeface="Calibri"/>
              </a:rPr>
              <a:t>MUZAMILL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83863"/>
            <a:ext cx="10360152" cy="484632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07307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3511295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3B6EA8"/>
                </a:solidFill>
                <a:latin typeface="Calibri"/>
              </a:rPr>
              <a:t>W11-W12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88920" y="3538727"/>
            <a:ext cx="0" cy="374904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17520" y="3511295"/>
            <a:ext cx="6309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Calibri"/>
              </a:rPr>
              <a:t>SHAP Explainability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3598163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9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3598163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9971F"/>
                </a:solidFill>
                <a:latin typeface="Calibri"/>
              </a:rPr>
              <a:t>MUZAMILL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59935"/>
            <a:ext cx="10360152" cy="484632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183379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63040" y="4087368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3B6EA8"/>
                </a:solidFill>
                <a:latin typeface="Calibri"/>
              </a:rPr>
              <a:t>W12-W13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88920" y="4114799"/>
            <a:ext cx="0" cy="374904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17520" y="4087368"/>
            <a:ext cx="6309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Calibri"/>
              </a:rPr>
              <a:t>System Integration &amp; Testing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4174235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4174235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B6EA8"/>
                </a:solidFill>
                <a:latin typeface="Calibri"/>
              </a:rPr>
              <a:t>BOTH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636007"/>
            <a:ext cx="10360152" cy="484632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759451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63040" y="4663440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3B6EA8"/>
                </a:solidFill>
                <a:latin typeface="Calibri"/>
              </a:rPr>
              <a:t>W13-W14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88920" y="4690871"/>
            <a:ext cx="0" cy="374904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017520" y="4663440"/>
            <a:ext cx="6309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Calibri"/>
              </a:rPr>
              <a:t>Documentation &amp; Research Paper Drafting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46920" y="4750307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46920" y="4750307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B6EA8"/>
                </a:solidFill>
                <a:latin typeface="Calibri"/>
              </a:rPr>
              <a:t>BOTH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212079"/>
            <a:ext cx="10360152" cy="484632"/>
          </a:xfrm>
          <a:prstGeom prst="roundRect">
            <a:avLst>
              <a:gd name="adj" fmla="val 6000"/>
            </a:avLst>
          </a:prstGeom>
          <a:solidFill>
            <a:srgbClr val="E3E3E3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335523"/>
            <a:ext cx="237744" cy="2377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63040" y="5239512"/>
            <a:ext cx="12801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3B6EA8"/>
                </a:solidFill>
                <a:latin typeface="Calibri"/>
              </a:rPr>
              <a:t>W15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88920" y="5266943"/>
            <a:ext cx="0" cy="374904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017520" y="5239512"/>
            <a:ext cx="630936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44"/>
                </a:solidFill>
                <a:latin typeface="Calibri"/>
              </a:rPr>
              <a:t>Review 3 / Final Submission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46920" y="5326379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B6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46920" y="5326379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B6EA8"/>
                </a:solidFill>
                <a:latin typeface="Calibri"/>
              </a:rPr>
              <a:t>BOTH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94560" y="1124712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B6EA8"/>
                </a:solidFill>
                <a:latin typeface="Calibri"/>
              </a:rPr>
              <a:t>ALREADY BUILT, DELIBERATELY HELD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01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A44"/>
                </a:solidFill>
                <a:latin typeface="Calibri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79"/>
            <a:ext cx="103601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Not speculative R&amp;D - these modules exist in the codebase today. We scoped them out of this review to keep the demo tight, and will switch them on for Review 3.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70432" y="2715768"/>
            <a:ext cx="594360" cy="59436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yout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65" y="2870301"/>
            <a:ext cx="285292" cy="2852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40" y="2697479"/>
            <a:ext cx="38404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B6EA8"/>
                </a:solidFill>
                <a:latin typeface="Calibri"/>
              </a:rPr>
              <a:t>Executive Intelligence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200400"/>
            <a:ext cx="38404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Aggregated fraud trend, regulatory exposure, and model-health snapshot for leadership. Built and running at /executive; unlinked from navigation for this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2316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3952" y="2715768"/>
            <a:ext cx="594360" cy="594360"/>
          </a:xfrm>
          <a:prstGeom prst="ellipse">
            <a:avLst/>
          </a:prstGeom>
          <a:solidFill>
            <a:srgbClr val="3C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485" y="2870301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0" y="2697479"/>
            <a:ext cx="38404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C8D57"/>
                </a:solidFill>
                <a:latin typeface="Calibri"/>
              </a:rPr>
              <a:t>Compliance &amp; Regulatory 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38404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One-click Suspicious/Cash Transaction Report generation in FIU-IND format under PMLA 2002, with the statutory 7-working-day filing deadline tracked automatically.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3484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70432" y="4727448"/>
            <a:ext cx="594360" cy="594360"/>
          </a:xfrm>
          <a:prstGeom prst="ellipse">
            <a:avLst/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965" y="4881981"/>
            <a:ext cx="285292" cy="2852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920240" y="4709159"/>
            <a:ext cx="38404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9971F"/>
                </a:solidFill>
                <a:latin typeface="Calibri"/>
              </a:rPr>
              <a:t>Model Health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212079"/>
            <a:ext cx="38404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Data-drift tracking and a transparency view over the rule-based + graph-analytics pipeline - fully interpretable, no black-box scoring.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434840"/>
            <a:ext cx="5074920" cy="17830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4727448"/>
            <a:ext cx="594360" cy="594360"/>
          </a:xfrm>
          <a:prstGeom prst="ellipse">
            <a:avLst/>
          </a:prstGeom>
          <a:solidFill>
            <a:srgbClr val="3A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485" y="4881981"/>
            <a:ext cx="285292" cy="28529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23760" y="4709159"/>
            <a:ext cx="38404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A4A6B"/>
                </a:solidFill>
                <a:latin typeface="Calibri"/>
              </a:rPr>
              <a:t>AI-Assisted Case Narratives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212079"/>
            <a:ext cx="38404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B6B6B"/>
                </a:solidFill>
                <a:latin typeface="Calibri"/>
              </a:rPr>
              <a:t>RAG + ChromaDB-generated analyst explanations for alerts and cases. Working end-to-end; held back this review by our own choice on AI-generated content.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38647" y="2743200"/>
            <a:ext cx="914400" cy="914400"/>
          </a:xfrm>
          <a:prstGeom prst="ellipse">
            <a:avLst/>
          </a:prstGeom>
          <a:solidFill>
            <a:srgbClr val="3B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91" y="2980944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794760"/>
            <a:ext cx="121916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1F2A44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52628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3B6EA8"/>
                </a:solidFill>
                <a:latin typeface="Calibri"/>
              </a:rPr>
              <a:t>Questions &amp; Discussion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547207" y="5074920"/>
            <a:ext cx="1097280" cy="0"/>
          </a:xfrm>
          <a:prstGeom prst="line">
            <a:avLst/>
          </a:prstGeom>
          <a:ln w="190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5257800"/>
            <a:ext cx="121916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6B6B6B"/>
                </a:solidFill>
                <a:latin typeface="Calibri"/>
              </a:rPr>
              <a:t>Shravan Kadam  |  Muzamill Saudagar  |  B.Tech AI &amp; DS, STME NMIMS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M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ME PPT Template" id="{0F0D7AA8-361A-4F37-8516-0EFE3419025B}" vid="{8744BC16-5615-46D5-8B96-B46A56991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STME PPT Template</Template>
  <TotalTime>2073</TotalTime>
  <Words>485</Words>
  <Application>Microsoft Office PowerPoint</Application>
  <PresentationFormat>Widescreen</PresentationFormat>
  <Paragraphs>44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Narrow</vt:lpstr>
      <vt:lpstr>Calibri</vt:lpstr>
      <vt:lpstr>Calibri Light</vt:lpstr>
      <vt:lpstr>STME Theme</vt:lpstr>
      <vt:lpstr>Capstone Projects Orientation 2:  B Tech CE, B Tech AI&amp;DS  AY 26-27</vt:lpstr>
      <vt:lpstr>PowerPoint Presentation</vt:lpstr>
      <vt:lpstr>PowerPoint Presentation</vt:lpstr>
      <vt:lpstr>PowerPoint Presentation</vt:lpstr>
      <vt:lpstr>Review 3 Guidelines  ( Last week of Semester: TBD) Weightage : 30m </vt:lpstr>
      <vt:lpstr>Research Paper Publication Weightage: 20m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Electrostatics</dc:title>
  <dc:creator>Divyang Jadav</dc:creator>
  <cp:lastModifiedBy>Toral Shah (Dr.)</cp:lastModifiedBy>
  <cp:revision>205</cp:revision>
  <cp:lastPrinted>2025-03-01T06:41:07Z</cp:lastPrinted>
  <dcterms:created xsi:type="dcterms:W3CDTF">2019-09-30T10:49:12Z</dcterms:created>
  <dcterms:modified xsi:type="dcterms:W3CDTF">2026-07-14T08:32:11Z</dcterms:modified>
</cp:coreProperties>
</file>